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Inter" panose="020B0604020202020204" charset="0"/>
      <p:regular r:id="rId16"/>
    </p:embeddedFont>
    <p:embeddedFont>
      <p:font typeface="Inter Light" panose="020B0604020202020204" charset="0"/>
      <p:regular r:id="rId17"/>
    </p:embeddedFont>
    <p:embeddedFont>
      <p:font typeface="Inter Semi-Bold" panose="020B0604020202020204" charset="0"/>
      <p:regular r:id="rId18"/>
    </p:embeddedFont>
    <p:embeddedFont>
      <p:font typeface="Telegraf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7" d="100"/>
          <a:sy n="57" d="100"/>
        </p:scale>
        <p:origin x="318" y="8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9856046" y="1702796"/>
            <a:ext cx="4547984" cy="675364"/>
            <a:chOff x="0" y="0"/>
            <a:chExt cx="1197823" cy="177874"/>
          </a:xfrm>
        </p:grpSpPr>
        <p:sp>
          <p:nvSpPr>
            <p:cNvPr id="12" name="Freeform 12"/>
            <p:cNvSpPr/>
            <p:nvPr/>
          </p:nvSpPr>
          <p:spPr>
            <a:xfrm>
              <a:off x="0" y="0"/>
              <a:ext cx="1197823" cy="177874"/>
            </a:xfrm>
            <a:custGeom>
              <a:avLst/>
              <a:gdLst/>
              <a:ahLst/>
              <a:cxnLst/>
              <a:rect l="l" t="t" r="r" b="b"/>
              <a:pathLst>
                <a:path w="1197823" h="177874">
                  <a:moveTo>
                    <a:pt x="88937" y="0"/>
                  </a:moveTo>
                  <a:lnTo>
                    <a:pt x="1108886" y="0"/>
                  </a:lnTo>
                  <a:cubicBezTo>
                    <a:pt x="1158004" y="0"/>
                    <a:pt x="1197823" y="39818"/>
                    <a:pt x="1197823" y="88937"/>
                  </a:cubicBezTo>
                  <a:lnTo>
                    <a:pt x="1197823" y="88937"/>
                  </a:lnTo>
                  <a:cubicBezTo>
                    <a:pt x="1197823" y="138055"/>
                    <a:pt x="1158004" y="177874"/>
                    <a:pt x="1108886"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3" name="TextBox 13"/>
            <p:cNvSpPr txBox="1"/>
            <p:nvPr/>
          </p:nvSpPr>
          <p:spPr>
            <a:xfrm>
              <a:off x="0" y="-38100"/>
              <a:ext cx="1197823"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Complete Project Documentation</a:t>
              </a:r>
            </a:p>
          </p:txBody>
        </p:sp>
      </p:grpSp>
      <p:grpSp>
        <p:nvGrpSpPr>
          <p:cNvPr id="14" name="Group 14"/>
          <p:cNvGrpSpPr/>
          <p:nvPr/>
        </p:nvGrpSpPr>
        <p:grpSpPr>
          <a:xfrm>
            <a:off x="1663177" y="1688057"/>
            <a:ext cx="6797206" cy="2285235"/>
            <a:chOff x="0" y="0"/>
            <a:chExt cx="9062941" cy="3046980"/>
          </a:xfrm>
        </p:grpSpPr>
        <p:grpSp>
          <p:nvGrpSpPr>
            <p:cNvPr id="15" name="Group 15"/>
            <p:cNvGrpSpPr/>
            <p:nvPr/>
          </p:nvGrpSpPr>
          <p:grpSpPr>
            <a:xfrm>
              <a:off x="0" y="1374261"/>
              <a:ext cx="9062941" cy="1374261"/>
              <a:chOff x="0" y="0"/>
              <a:chExt cx="1790211" cy="271459"/>
            </a:xfrm>
          </p:grpSpPr>
          <p:sp>
            <p:nvSpPr>
              <p:cNvPr id="16" name="Freeform 16"/>
              <p:cNvSpPr/>
              <p:nvPr/>
            </p:nvSpPr>
            <p:spPr>
              <a:xfrm>
                <a:off x="0" y="0"/>
                <a:ext cx="1790211" cy="271459"/>
              </a:xfrm>
              <a:custGeom>
                <a:avLst/>
                <a:gdLst/>
                <a:ahLst/>
                <a:cxnLst/>
                <a:rect l="l" t="t" r="r" b="b"/>
                <a:pathLst>
                  <a:path w="1790211" h="271459">
                    <a:moveTo>
                      <a:pt x="0" y="0"/>
                    </a:moveTo>
                    <a:lnTo>
                      <a:pt x="1790211" y="0"/>
                    </a:lnTo>
                    <a:lnTo>
                      <a:pt x="1790211" y="271459"/>
                    </a:lnTo>
                    <a:lnTo>
                      <a:pt x="0" y="271459"/>
                    </a:lnTo>
                    <a:close/>
                  </a:path>
                </a:pathLst>
              </a:custGeom>
              <a:solidFill>
                <a:srgbClr val="BDFF00">
                  <a:alpha val="22745"/>
                </a:srgbClr>
              </a:solidFill>
            </p:spPr>
          </p:sp>
          <p:sp>
            <p:nvSpPr>
              <p:cNvPr id="17" name="TextBox 17"/>
              <p:cNvSpPr txBox="1"/>
              <p:nvPr/>
            </p:nvSpPr>
            <p:spPr>
              <a:xfrm>
                <a:off x="0" y="-38100"/>
                <a:ext cx="1790211" cy="309559"/>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217482" y="161925"/>
              <a:ext cx="8679962" cy="2885055"/>
            </a:xfrm>
            <a:prstGeom prst="rect">
              <a:avLst/>
            </a:prstGeom>
          </p:spPr>
          <p:txBody>
            <a:bodyPr lIns="0" tIns="0" rIns="0" bIns="0" rtlCol="0" anchor="t">
              <a:spAutoFit/>
            </a:bodyPr>
            <a:lstStyle/>
            <a:p>
              <a:pPr marL="0" lvl="0" indent="0" algn="l">
                <a:lnSpc>
                  <a:spcPts val="3928"/>
                </a:lnSpc>
              </a:pPr>
              <a:r>
                <a:rPr lang="en-US" sz="5237" b="1">
                  <a:solidFill>
                    <a:srgbClr val="F4F4F4"/>
                  </a:solidFill>
                  <a:latin typeface="Telegraf Bold"/>
                  <a:ea typeface="Telegraf Bold"/>
                  <a:cs typeface="Telegraf Bold"/>
                  <a:sym typeface="Telegraf Bold"/>
                </a:rPr>
                <a:t>CUSTOMER SHOPPING BEHAVIOR ANALYSIS PROJECT</a:t>
              </a:r>
            </a:p>
          </p:txBody>
        </p:sp>
      </p:grpSp>
      <p:grpSp>
        <p:nvGrpSpPr>
          <p:cNvPr id="19" name="Group 19"/>
          <p:cNvGrpSpPr/>
          <p:nvPr/>
        </p:nvGrpSpPr>
        <p:grpSpPr>
          <a:xfrm>
            <a:off x="17259300" y="1028700"/>
            <a:ext cx="1943433" cy="1894109"/>
            <a:chOff x="0" y="0"/>
            <a:chExt cx="511851" cy="498860"/>
          </a:xfrm>
        </p:grpSpPr>
        <p:sp>
          <p:nvSpPr>
            <p:cNvPr id="20" name="Freeform 20"/>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1" name="TextBox 21"/>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2" name="Group 22"/>
          <p:cNvGrpSpPr/>
          <p:nvPr/>
        </p:nvGrpSpPr>
        <p:grpSpPr>
          <a:xfrm>
            <a:off x="-914733" y="7393791"/>
            <a:ext cx="1943433" cy="1864509"/>
            <a:chOff x="0" y="0"/>
            <a:chExt cx="511851" cy="491064"/>
          </a:xfrm>
        </p:grpSpPr>
        <p:sp>
          <p:nvSpPr>
            <p:cNvPr id="23" name="Freeform 23"/>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4" name="TextBox 24"/>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1648589" y="4670714"/>
            <a:ext cx="14990822" cy="3956006"/>
            <a:chOff x="0" y="0"/>
            <a:chExt cx="1415900" cy="373649"/>
          </a:xfrm>
        </p:grpSpPr>
        <p:sp>
          <p:nvSpPr>
            <p:cNvPr id="26" name="Freeform 26"/>
            <p:cNvSpPr/>
            <p:nvPr/>
          </p:nvSpPr>
          <p:spPr>
            <a:xfrm>
              <a:off x="0" y="0"/>
              <a:ext cx="1415900" cy="373649"/>
            </a:xfrm>
            <a:custGeom>
              <a:avLst/>
              <a:gdLst/>
              <a:ahLst/>
              <a:cxnLst/>
              <a:rect l="l" t="t" r="r" b="b"/>
              <a:pathLst>
                <a:path w="1415900" h="373649">
                  <a:moveTo>
                    <a:pt x="0" y="0"/>
                  </a:moveTo>
                  <a:lnTo>
                    <a:pt x="1415900" y="0"/>
                  </a:lnTo>
                  <a:lnTo>
                    <a:pt x="1415900" y="373649"/>
                  </a:lnTo>
                  <a:lnTo>
                    <a:pt x="0" y="373649"/>
                  </a:lnTo>
                  <a:close/>
                </a:path>
              </a:pathLst>
            </a:custGeom>
            <a:blipFill>
              <a:blip r:embed="rId2"/>
              <a:stretch>
                <a:fillRect t="-57997" b="-57997"/>
              </a:stretch>
            </a:blipFill>
            <a:ln w="19050" cap="sq">
              <a:solidFill>
                <a:srgbClr val="BDFF00"/>
              </a:solidFill>
              <a:prstDash val="solid"/>
              <a:miter/>
            </a:ln>
          </p:spPr>
        </p:sp>
      </p:grpSp>
      <p:sp>
        <p:nvSpPr>
          <p:cNvPr id="27" name="TextBox 27"/>
          <p:cNvSpPr txBox="1"/>
          <p:nvPr/>
        </p:nvSpPr>
        <p:spPr>
          <a:xfrm>
            <a:off x="9856046" y="2759484"/>
            <a:ext cx="6783365" cy="656590"/>
          </a:xfrm>
          <a:prstGeom prst="rect">
            <a:avLst/>
          </a:prstGeom>
        </p:spPr>
        <p:txBody>
          <a:bodyPr lIns="0" tIns="0" rIns="0" bIns="0" rtlCol="0" anchor="t">
            <a:spAutoFit/>
          </a:bodyPr>
          <a:lstStyle/>
          <a:p>
            <a:pPr marL="0" lvl="0" indent="0" algn="just">
              <a:lnSpc>
                <a:spcPts val="2659"/>
              </a:lnSpc>
              <a:spcBef>
                <a:spcPct val="0"/>
              </a:spcBef>
            </a:pPr>
            <a:r>
              <a:rPr lang="en-US" sz="1899">
                <a:solidFill>
                  <a:srgbClr val="BDFF00"/>
                </a:solidFill>
                <a:latin typeface="Inter"/>
                <a:ea typeface="Inter"/>
                <a:cs typeface="Inter"/>
                <a:sym typeface="Inter"/>
              </a:rPr>
              <a:t>Data Analytics Team</a:t>
            </a:r>
          </a:p>
          <a:p>
            <a:pPr marL="0" lvl="0" indent="0" algn="just">
              <a:lnSpc>
                <a:spcPts val="2659"/>
              </a:lnSpc>
              <a:spcBef>
                <a:spcPct val="0"/>
              </a:spcBef>
            </a:pPr>
            <a:r>
              <a:rPr lang="en-US" sz="1899">
                <a:solidFill>
                  <a:srgbClr val="BDFF00"/>
                </a:solidFill>
                <a:latin typeface="Inter"/>
                <a:ea typeface="Inter"/>
                <a:cs typeface="Inter"/>
                <a:sym typeface="Inter"/>
              </a:rPr>
              <a:t>January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782443" y="5457461"/>
            <a:ext cx="4413577" cy="675364"/>
            <a:chOff x="0" y="0"/>
            <a:chExt cx="1162424" cy="177874"/>
          </a:xfrm>
        </p:grpSpPr>
        <p:sp>
          <p:nvSpPr>
            <p:cNvPr id="12" name="Freeform 12"/>
            <p:cNvSpPr/>
            <p:nvPr/>
          </p:nvSpPr>
          <p:spPr>
            <a:xfrm>
              <a:off x="0" y="0"/>
              <a:ext cx="1162424" cy="177874"/>
            </a:xfrm>
            <a:custGeom>
              <a:avLst/>
              <a:gdLst/>
              <a:ahLst/>
              <a:cxnLst/>
              <a:rect l="l" t="t" r="r" b="b"/>
              <a:pathLst>
                <a:path w="1162424" h="177874">
                  <a:moveTo>
                    <a:pt x="88937" y="0"/>
                  </a:moveTo>
                  <a:lnTo>
                    <a:pt x="1073487" y="0"/>
                  </a:lnTo>
                  <a:cubicBezTo>
                    <a:pt x="1097074" y="0"/>
                    <a:pt x="1119696" y="9370"/>
                    <a:pt x="1136375" y="26049"/>
                  </a:cubicBezTo>
                  <a:cubicBezTo>
                    <a:pt x="1153053" y="42728"/>
                    <a:pt x="1162424" y="65349"/>
                    <a:pt x="1162424" y="88937"/>
                  </a:cubicBezTo>
                  <a:lnTo>
                    <a:pt x="1162424" y="88937"/>
                  </a:lnTo>
                  <a:cubicBezTo>
                    <a:pt x="1162424" y="138055"/>
                    <a:pt x="1122605" y="177874"/>
                    <a:pt x="1073487"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3" name="TextBox 13"/>
            <p:cNvSpPr txBox="1"/>
            <p:nvPr/>
          </p:nvSpPr>
          <p:spPr>
            <a:xfrm>
              <a:off x="0" y="-38100"/>
              <a:ext cx="1162424"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Defining the Business Challenge</a:t>
              </a:r>
            </a:p>
          </p:txBody>
        </p:sp>
      </p:grpSp>
      <p:grpSp>
        <p:nvGrpSpPr>
          <p:cNvPr id="14" name="Group 14"/>
          <p:cNvGrpSpPr/>
          <p:nvPr/>
        </p:nvGrpSpPr>
        <p:grpSpPr>
          <a:xfrm>
            <a:off x="1782443" y="2474451"/>
            <a:ext cx="6249532" cy="896716"/>
            <a:chOff x="0" y="0"/>
            <a:chExt cx="1645967" cy="236172"/>
          </a:xfrm>
        </p:grpSpPr>
        <p:sp>
          <p:nvSpPr>
            <p:cNvPr id="15" name="Freeform 15"/>
            <p:cNvSpPr/>
            <p:nvPr/>
          </p:nvSpPr>
          <p:spPr>
            <a:xfrm>
              <a:off x="0" y="0"/>
              <a:ext cx="1645967" cy="236172"/>
            </a:xfrm>
            <a:custGeom>
              <a:avLst/>
              <a:gdLst/>
              <a:ahLst/>
              <a:cxnLst/>
              <a:rect l="l" t="t" r="r" b="b"/>
              <a:pathLst>
                <a:path w="1645967" h="236172">
                  <a:moveTo>
                    <a:pt x="0" y="0"/>
                  </a:moveTo>
                  <a:lnTo>
                    <a:pt x="1645967" y="0"/>
                  </a:lnTo>
                  <a:lnTo>
                    <a:pt x="1645967" y="236172"/>
                  </a:lnTo>
                  <a:lnTo>
                    <a:pt x="0" y="236172"/>
                  </a:lnTo>
                  <a:close/>
                </a:path>
              </a:pathLst>
            </a:custGeom>
            <a:solidFill>
              <a:srgbClr val="BDFF00">
                <a:alpha val="22745"/>
              </a:srgbClr>
            </a:solidFill>
          </p:spPr>
        </p:sp>
        <p:sp>
          <p:nvSpPr>
            <p:cNvPr id="16" name="TextBox 16"/>
            <p:cNvSpPr txBox="1"/>
            <p:nvPr/>
          </p:nvSpPr>
          <p:spPr>
            <a:xfrm>
              <a:off x="0" y="-38100"/>
              <a:ext cx="1645967" cy="274272"/>
            </a:xfrm>
            <a:prstGeom prst="rect">
              <a:avLst/>
            </a:prstGeom>
          </p:spPr>
          <p:txBody>
            <a:bodyPr lIns="50800" tIns="50800" rIns="50800" bIns="50800" rtlCol="0" anchor="ctr"/>
            <a:lstStyle/>
            <a:p>
              <a:pPr marL="0" lvl="0" indent="0" algn="ctr">
                <a:lnSpc>
                  <a:spcPts val="2659"/>
                </a:lnSpc>
              </a:pPr>
              <a:endParaRPr/>
            </a:p>
          </p:txBody>
        </p:sp>
      </p:grpSp>
      <p:sp>
        <p:nvSpPr>
          <p:cNvPr id="17" name="TextBox 17"/>
          <p:cNvSpPr txBox="1"/>
          <p:nvPr/>
        </p:nvSpPr>
        <p:spPr>
          <a:xfrm>
            <a:off x="1782443" y="1771465"/>
            <a:ext cx="7987769" cy="1865020"/>
          </a:xfrm>
          <a:prstGeom prst="rect">
            <a:avLst/>
          </a:prstGeom>
        </p:spPr>
        <p:txBody>
          <a:bodyPr lIns="0" tIns="0" rIns="0" bIns="0" rtlCol="0" anchor="t">
            <a:spAutoFit/>
          </a:bodyPr>
          <a:lstStyle/>
          <a:p>
            <a:pPr marL="0" lvl="0" indent="0" algn="l">
              <a:lnSpc>
                <a:spcPts val="4517"/>
              </a:lnSpc>
            </a:pPr>
            <a:r>
              <a:rPr lang="en-US" sz="6023" b="1">
                <a:solidFill>
                  <a:srgbClr val="F4F4F4"/>
                </a:solidFill>
                <a:latin typeface="Telegraf Bold"/>
                <a:ea typeface="Telegraf Bold"/>
                <a:cs typeface="Telegraf Bold"/>
                <a:sym typeface="Telegraf Bold"/>
              </a:rPr>
              <a:t>PROBLEM STATEMENT &amp; PROJECT OBJECTIVE</a:t>
            </a:r>
          </a:p>
        </p:txBody>
      </p:sp>
      <p:grpSp>
        <p:nvGrpSpPr>
          <p:cNvPr id="18" name="Group 18"/>
          <p:cNvGrpSpPr/>
          <p:nvPr/>
        </p:nvGrpSpPr>
        <p:grpSpPr>
          <a:xfrm>
            <a:off x="17259300" y="1028700"/>
            <a:ext cx="1943433" cy="1894109"/>
            <a:chOff x="0" y="0"/>
            <a:chExt cx="511851" cy="498860"/>
          </a:xfrm>
        </p:grpSpPr>
        <p:sp>
          <p:nvSpPr>
            <p:cNvPr id="19" name="Freeform 19"/>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0" name="TextBox 20"/>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914733" y="7393791"/>
            <a:ext cx="1943433" cy="1864509"/>
            <a:chOff x="0" y="0"/>
            <a:chExt cx="511851" cy="491064"/>
          </a:xfrm>
        </p:grpSpPr>
        <p:sp>
          <p:nvSpPr>
            <p:cNvPr id="22" name="Freeform 22"/>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3" name="TextBox 23"/>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0346729" y="1042078"/>
            <a:ext cx="6912571" cy="8216222"/>
            <a:chOff x="0" y="0"/>
            <a:chExt cx="652900" cy="776031"/>
          </a:xfrm>
        </p:grpSpPr>
        <p:sp>
          <p:nvSpPr>
            <p:cNvPr id="25" name="Freeform 25"/>
            <p:cNvSpPr/>
            <p:nvPr/>
          </p:nvSpPr>
          <p:spPr>
            <a:xfrm>
              <a:off x="0" y="0"/>
              <a:ext cx="652900" cy="776031"/>
            </a:xfrm>
            <a:custGeom>
              <a:avLst/>
              <a:gdLst/>
              <a:ahLst/>
              <a:cxnLst/>
              <a:rect l="l" t="t" r="r" b="b"/>
              <a:pathLst>
                <a:path w="652900" h="776031">
                  <a:moveTo>
                    <a:pt x="0" y="0"/>
                  </a:moveTo>
                  <a:lnTo>
                    <a:pt x="652900" y="0"/>
                  </a:lnTo>
                  <a:lnTo>
                    <a:pt x="652900" y="776031"/>
                  </a:lnTo>
                  <a:lnTo>
                    <a:pt x="0" y="776031"/>
                  </a:lnTo>
                  <a:close/>
                </a:path>
              </a:pathLst>
            </a:custGeom>
            <a:blipFill>
              <a:blip r:embed="rId2"/>
              <a:stretch>
                <a:fillRect t="-2014" b="-2014"/>
              </a:stretch>
            </a:blipFill>
            <a:ln w="19050" cap="sq">
              <a:solidFill>
                <a:srgbClr val="BDFF00"/>
              </a:solidFill>
              <a:prstDash val="solid"/>
              <a:miter/>
            </a:ln>
          </p:spPr>
        </p:sp>
      </p:grpSp>
      <p:sp>
        <p:nvSpPr>
          <p:cNvPr id="26" name="TextBox 26"/>
          <p:cNvSpPr txBox="1"/>
          <p:nvPr/>
        </p:nvSpPr>
        <p:spPr>
          <a:xfrm>
            <a:off x="1782443" y="6523674"/>
            <a:ext cx="7451498" cy="1369810"/>
          </a:xfrm>
          <a:prstGeom prst="rect">
            <a:avLst/>
          </a:prstGeom>
        </p:spPr>
        <p:txBody>
          <a:bodyPr lIns="0" tIns="0" rIns="0" bIns="0" rtlCol="0" anchor="t">
            <a:spAutoFit/>
          </a:bodyPr>
          <a:lstStyle/>
          <a:p>
            <a:pPr marL="0" lvl="0" indent="0" algn="just">
              <a:lnSpc>
                <a:spcPts val="2198"/>
              </a:lnSpc>
              <a:spcBef>
                <a:spcPct val="0"/>
              </a:spcBef>
            </a:pPr>
            <a:r>
              <a:rPr lang="en-US" sz="1570">
                <a:solidFill>
                  <a:srgbClr val="BDFF00"/>
                </a:solidFill>
                <a:latin typeface="Inter"/>
                <a:ea typeface="Inter"/>
                <a:cs typeface="Inter"/>
                <a:sym typeface="Inter"/>
              </a:rPr>
              <a:t>The Challenge: Difficulty understanding customer revenue contribution, product performance across categories, and the true impact of discounts on profitability.</a:t>
            </a:r>
          </a:p>
          <a:p>
            <a:pPr marL="0" lvl="0" indent="0" algn="just">
              <a:lnSpc>
                <a:spcPts val="2198"/>
              </a:lnSpc>
              <a:spcBef>
                <a:spcPct val="0"/>
              </a:spcBef>
            </a:pPr>
            <a:r>
              <a:rPr lang="en-US" sz="1570">
                <a:solidFill>
                  <a:srgbClr val="BDFF00"/>
                </a:solidFill>
                <a:latin typeface="Inter"/>
                <a:ea typeface="Inter"/>
                <a:cs typeface="Inter"/>
                <a:sym typeface="Inter"/>
              </a:rPr>
              <a:t>Our Objective: Identify meaningful patterns in customer purchasing behavior, preferences, and spending habits through comprehensive transactional data analysis to drive strategic business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6057900" y="3288671"/>
            <a:ext cx="10537598" cy="5461821"/>
            <a:chOff x="0" y="0"/>
            <a:chExt cx="2775335" cy="1438504"/>
          </a:xfrm>
        </p:grpSpPr>
        <p:sp>
          <p:nvSpPr>
            <p:cNvPr id="12" name="Freeform 12"/>
            <p:cNvSpPr/>
            <p:nvPr/>
          </p:nvSpPr>
          <p:spPr>
            <a:xfrm>
              <a:off x="0" y="0"/>
              <a:ext cx="2775334" cy="1438504"/>
            </a:xfrm>
            <a:custGeom>
              <a:avLst/>
              <a:gdLst/>
              <a:ahLst/>
              <a:cxnLst/>
              <a:rect l="l" t="t" r="r" b="b"/>
              <a:pathLst>
                <a:path w="2775334" h="1438504">
                  <a:moveTo>
                    <a:pt x="0" y="0"/>
                  </a:moveTo>
                  <a:lnTo>
                    <a:pt x="2775334" y="0"/>
                  </a:lnTo>
                  <a:lnTo>
                    <a:pt x="2775334" y="1438504"/>
                  </a:lnTo>
                  <a:lnTo>
                    <a:pt x="0" y="1438504"/>
                  </a:lnTo>
                  <a:close/>
                </a:path>
              </a:pathLst>
            </a:custGeom>
            <a:ln w="19050" cap="sq">
              <a:solidFill>
                <a:srgbClr val="BDFF00"/>
              </a:solidFill>
              <a:prstDash val="solid"/>
              <a:miter/>
            </a:ln>
          </p:spPr>
        </p:sp>
        <p:sp>
          <p:nvSpPr>
            <p:cNvPr id="13" name="TextBox 13"/>
            <p:cNvSpPr txBox="1"/>
            <p:nvPr/>
          </p:nvSpPr>
          <p:spPr>
            <a:xfrm>
              <a:off x="0" y="-38100"/>
              <a:ext cx="2775335" cy="1476604"/>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8906920" y="5638028"/>
            <a:ext cx="4177823" cy="675364"/>
            <a:chOff x="0" y="0"/>
            <a:chExt cx="1100332" cy="177874"/>
          </a:xfrm>
        </p:grpSpPr>
        <p:sp>
          <p:nvSpPr>
            <p:cNvPr id="15" name="Freeform 15"/>
            <p:cNvSpPr/>
            <p:nvPr/>
          </p:nvSpPr>
          <p:spPr>
            <a:xfrm>
              <a:off x="0" y="0"/>
              <a:ext cx="1100332" cy="177874"/>
            </a:xfrm>
            <a:custGeom>
              <a:avLst/>
              <a:gdLst/>
              <a:ahLst/>
              <a:cxnLst/>
              <a:rect l="l" t="t" r="r" b="b"/>
              <a:pathLst>
                <a:path w="1100332" h="177874">
                  <a:moveTo>
                    <a:pt x="88937" y="0"/>
                  </a:moveTo>
                  <a:lnTo>
                    <a:pt x="1011395" y="0"/>
                  </a:lnTo>
                  <a:cubicBezTo>
                    <a:pt x="1034983" y="0"/>
                    <a:pt x="1057604" y="9370"/>
                    <a:pt x="1074283" y="26049"/>
                  </a:cubicBezTo>
                  <a:cubicBezTo>
                    <a:pt x="1090962" y="42728"/>
                    <a:pt x="1100332" y="65349"/>
                    <a:pt x="1100332" y="88937"/>
                  </a:cubicBezTo>
                  <a:lnTo>
                    <a:pt x="1100332" y="88937"/>
                  </a:lnTo>
                  <a:cubicBezTo>
                    <a:pt x="1100332" y="138055"/>
                    <a:pt x="1060513" y="177874"/>
                    <a:pt x="1011395"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6" name="TextBox 16"/>
            <p:cNvSpPr txBox="1"/>
            <p:nvPr/>
          </p:nvSpPr>
          <p:spPr>
            <a:xfrm>
              <a:off x="0" y="-38100"/>
              <a:ext cx="1100332"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Data Foundation Overview</a:t>
              </a:r>
            </a:p>
          </p:txBody>
        </p:sp>
      </p:grpSp>
      <p:grpSp>
        <p:nvGrpSpPr>
          <p:cNvPr id="17" name="Group 17"/>
          <p:cNvGrpSpPr/>
          <p:nvPr/>
        </p:nvGrpSpPr>
        <p:grpSpPr>
          <a:xfrm>
            <a:off x="4098112" y="1653671"/>
            <a:ext cx="10091776" cy="1269138"/>
            <a:chOff x="0" y="0"/>
            <a:chExt cx="13455701" cy="1692184"/>
          </a:xfrm>
        </p:grpSpPr>
        <p:grpSp>
          <p:nvGrpSpPr>
            <p:cNvPr id="18" name="Group 18"/>
            <p:cNvGrpSpPr/>
            <p:nvPr/>
          </p:nvGrpSpPr>
          <p:grpSpPr>
            <a:xfrm>
              <a:off x="3853954" y="263597"/>
              <a:ext cx="9601747" cy="1428587"/>
              <a:chOff x="0" y="0"/>
              <a:chExt cx="1896641" cy="282190"/>
            </a:xfrm>
          </p:grpSpPr>
          <p:sp>
            <p:nvSpPr>
              <p:cNvPr id="19" name="Freeform 19"/>
              <p:cNvSpPr/>
              <p:nvPr/>
            </p:nvSpPr>
            <p:spPr>
              <a:xfrm>
                <a:off x="0" y="0"/>
                <a:ext cx="1896641" cy="282190"/>
              </a:xfrm>
              <a:custGeom>
                <a:avLst/>
                <a:gdLst/>
                <a:ahLst/>
                <a:cxnLst/>
                <a:rect l="l" t="t" r="r" b="b"/>
                <a:pathLst>
                  <a:path w="1896641" h="282190">
                    <a:moveTo>
                      <a:pt x="0" y="0"/>
                    </a:moveTo>
                    <a:lnTo>
                      <a:pt x="1896641" y="0"/>
                    </a:lnTo>
                    <a:lnTo>
                      <a:pt x="1896641" y="282190"/>
                    </a:lnTo>
                    <a:lnTo>
                      <a:pt x="0" y="282190"/>
                    </a:lnTo>
                    <a:close/>
                  </a:path>
                </a:pathLst>
              </a:custGeom>
              <a:solidFill>
                <a:srgbClr val="BDFF00">
                  <a:alpha val="22745"/>
                </a:srgbClr>
              </a:solidFill>
            </p:spPr>
          </p:sp>
          <p:sp>
            <p:nvSpPr>
              <p:cNvPr id="20" name="TextBox 20"/>
              <p:cNvSpPr txBox="1"/>
              <p:nvPr/>
            </p:nvSpPr>
            <p:spPr>
              <a:xfrm>
                <a:off x="0" y="-38100"/>
                <a:ext cx="1896641" cy="32029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0" y="219075"/>
              <a:ext cx="13330732" cy="1114179"/>
            </a:xfrm>
            <a:prstGeom prst="rect">
              <a:avLst/>
            </a:prstGeom>
          </p:spPr>
          <p:txBody>
            <a:bodyPr lIns="0" tIns="0" rIns="0" bIns="0" rtlCol="0" anchor="t">
              <a:spAutoFit/>
            </a:bodyPr>
            <a:lstStyle/>
            <a:p>
              <a:pPr marL="0" lvl="0" indent="0" algn="l">
                <a:lnSpc>
                  <a:spcPts val="4943"/>
                </a:lnSpc>
              </a:pPr>
              <a:r>
                <a:rPr lang="en-US" sz="6591" b="1">
                  <a:solidFill>
                    <a:srgbClr val="F4F4F4"/>
                  </a:solidFill>
                  <a:latin typeface="Telegraf Bold"/>
                  <a:ea typeface="Telegraf Bold"/>
                  <a:cs typeface="Telegraf Bold"/>
                  <a:sym typeface="Telegraf Bold"/>
                </a:rPr>
                <a:t>DATASET DESCRIPTION</a:t>
              </a:r>
            </a:p>
          </p:txBody>
        </p:sp>
      </p:grpSp>
      <p:grpSp>
        <p:nvGrpSpPr>
          <p:cNvPr id="22" name="Group 22"/>
          <p:cNvGrpSpPr/>
          <p:nvPr/>
        </p:nvGrpSpPr>
        <p:grpSpPr>
          <a:xfrm>
            <a:off x="17259300" y="1028700"/>
            <a:ext cx="1943433" cy="1894109"/>
            <a:chOff x="0" y="0"/>
            <a:chExt cx="511851" cy="498860"/>
          </a:xfrm>
        </p:grpSpPr>
        <p:sp>
          <p:nvSpPr>
            <p:cNvPr id="23" name="Freeform 23"/>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4" name="TextBox 24"/>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914733" y="7393791"/>
            <a:ext cx="1943433" cy="1864509"/>
            <a:chOff x="0" y="0"/>
            <a:chExt cx="511851" cy="491064"/>
          </a:xfrm>
        </p:grpSpPr>
        <p:sp>
          <p:nvSpPr>
            <p:cNvPr id="26" name="Freeform 26"/>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7" name="TextBox 27"/>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8" name="Group 28"/>
          <p:cNvGrpSpPr/>
          <p:nvPr/>
        </p:nvGrpSpPr>
        <p:grpSpPr>
          <a:xfrm>
            <a:off x="1782443" y="3288840"/>
            <a:ext cx="6545469" cy="5429418"/>
            <a:chOff x="0" y="0"/>
            <a:chExt cx="618227" cy="512815"/>
          </a:xfrm>
        </p:grpSpPr>
        <p:sp>
          <p:nvSpPr>
            <p:cNvPr id="29" name="Freeform 29"/>
            <p:cNvSpPr/>
            <p:nvPr/>
          </p:nvSpPr>
          <p:spPr>
            <a:xfrm>
              <a:off x="0" y="0"/>
              <a:ext cx="618227" cy="512815"/>
            </a:xfrm>
            <a:custGeom>
              <a:avLst/>
              <a:gdLst/>
              <a:ahLst/>
              <a:cxnLst/>
              <a:rect l="l" t="t" r="r" b="b"/>
              <a:pathLst>
                <a:path w="618227" h="512815">
                  <a:moveTo>
                    <a:pt x="0" y="0"/>
                  </a:moveTo>
                  <a:lnTo>
                    <a:pt x="618227" y="0"/>
                  </a:lnTo>
                  <a:lnTo>
                    <a:pt x="618227" y="512815"/>
                  </a:lnTo>
                  <a:lnTo>
                    <a:pt x="0" y="512815"/>
                  </a:lnTo>
                  <a:close/>
                </a:path>
              </a:pathLst>
            </a:custGeom>
            <a:blipFill>
              <a:blip r:embed="rId2"/>
              <a:stretch>
                <a:fillRect l="-1282" r="-1282"/>
              </a:stretch>
            </a:blipFill>
            <a:ln w="19050" cap="sq">
              <a:solidFill>
                <a:srgbClr val="BDFF00"/>
              </a:solidFill>
              <a:prstDash val="solid"/>
              <a:miter/>
            </a:ln>
          </p:spPr>
        </p:sp>
      </p:grpSp>
      <p:sp>
        <p:nvSpPr>
          <p:cNvPr id="30" name="TextBox 30"/>
          <p:cNvSpPr txBox="1"/>
          <p:nvPr/>
        </p:nvSpPr>
        <p:spPr>
          <a:xfrm>
            <a:off x="8906920" y="6694716"/>
            <a:ext cx="7192866" cy="1600178"/>
          </a:xfrm>
          <a:prstGeom prst="rect">
            <a:avLst/>
          </a:prstGeom>
        </p:spPr>
        <p:txBody>
          <a:bodyPr lIns="0" tIns="0" rIns="0" bIns="0" rtlCol="0" anchor="t">
            <a:spAutoFit/>
          </a:bodyPr>
          <a:lstStyle/>
          <a:p>
            <a:pPr marL="0" lvl="0" indent="0" algn="just">
              <a:lnSpc>
                <a:spcPts val="2101"/>
              </a:lnSpc>
              <a:spcBef>
                <a:spcPct val="0"/>
              </a:spcBef>
            </a:pPr>
            <a:r>
              <a:rPr lang="en-US" sz="1500">
                <a:solidFill>
                  <a:srgbClr val="BDFF00"/>
                </a:solidFill>
                <a:latin typeface="Inter"/>
                <a:ea typeface="Inter"/>
                <a:cs typeface="Inter"/>
                <a:sym typeface="Inter"/>
              </a:rPr>
              <a:t>The analysis is built on 3,900 transaction records across 18 columns, capturing comprehensive customer shopping behavior. Demographics include age, gender, location, and subscription status. Purchase details cover items, categories, amounts, seasons, sizes, and colors. Behavioral metrics track discounts, promo codes, purchase frequency, review ratings, and shipping preferences. 37 missing review rating values were identified and handled through imputation.</a:t>
            </a:r>
          </a:p>
        </p:txBody>
      </p:sp>
      <p:sp>
        <p:nvSpPr>
          <p:cNvPr id="31" name="AutoShape 31"/>
          <p:cNvSpPr/>
          <p:nvPr/>
        </p:nvSpPr>
        <p:spPr>
          <a:xfrm>
            <a:off x="8327912" y="5124450"/>
            <a:ext cx="8267586" cy="0"/>
          </a:xfrm>
          <a:prstGeom prst="line">
            <a:avLst/>
          </a:prstGeom>
          <a:ln w="19050" cap="flat">
            <a:solidFill>
              <a:srgbClr val="BDFF00"/>
            </a:solidFill>
            <a:prstDash val="solid"/>
            <a:headEnd type="none" w="sm" len="sm"/>
            <a:tailEnd type="none" w="sm" len="sm"/>
          </a:ln>
        </p:spPr>
      </p:sp>
      <p:grpSp>
        <p:nvGrpSpPr>
          <p:cNvPr id="32" name="Group 32"/>
          <p:cNvGrpSpPr/>
          <p:nvPr/>
        </p:nvGrpSpPr>
        <p:grpSpPr>
          <a:xfrm>
            <a:off x="10689058" y="3901166"/>
            <a:ext cx="203293" cy="193764"/>
            <a:chOff x="0" y="0"/>
            <a:chExt cx="812800" cy="774700"/>
          </a:xfrm>
        </p:grpSpPr>
        <p:sp>
          <p:nvSpPr>
            <p:cNvPr id="33" name="Freeform 3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4" name="TextBox 3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4116745" y="3901166"/>
            <a:ext cx="203293" cy="193764"/>
            <a:chOff x="0" y="0"/>
            <a:chExt cx="812800" cy="774700"/>
          </a:xfrm>
        </p:grpSpPr>
        <p:sp>
          <p:nvSpPr>
            <p:cNvPr id="36" name="Freeform 3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7" name="TextBox 3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38" name="AutoShape 38"/>
          <p:cNvSpPr/>
          <p:nvPr/>
        </p:nvSpPr>
        <p:spPr>
          <a:xfrm>
            <a:off x="11071599" y="4169227"/>
            <a:ext cx="2882125" cy="0"/>
          </a:xfrm>
          <a:prstGeom prst="line">
            <a:avLst/>
          </a:prstGeom>
          <a:ln w="9525" cap="rnd">
            <a:solidFill>
              <a:srgbClr val="FFFFFF"/>
            </a:solidFill>
            <a:prstDash val="solid"/>
            <a:headEnd type="none" w="sm" len="sm"/>
            <a:tailEnd type="none" w="sm" len="sm"/>
          </a:ln>
        </p:spPr>
      </p:sp>
      <p:sp>
        <p:nvSpPr>
          <p:cNvPr id="39" name="TextBox 39"/>
          <p:cNvSpPr txBox="1"/>
          <p:nvPr/>
        </p:nvSpPr>
        <p:spPr>
          <a:xfrm>
            <a:off x="10689058" y="3835170"/>
            <a:ext cx="3630980" cy="240110"/>
          </a:xfrm>
          <a:prstGeom prst="rect">
            <a:avLst/>
          </a:prstGeom>
        </p:spPr>
        <p:txBody>
          <a:bodyPr lIns="0" tIns="0" rIns="0" bIns="0" rtlCol="0" anchor="t">
            <a:spAutoFit/>
          </a:bodyPr>
          <a:lstStyle/>
          <a:p>
            <a:pPr marL="0" lvl="0" indent="0" algn="ctr">
              <a:lnSpc>
                <a:spcPts val="1990"/>
              </a:lnSpc>
              <a:spcBef>
                <a:spcPct val="0"/>
              </a:spcBef>
            </a:pPr>
            <a:r>
              <a:rPr lang="en-US" sz="1421">
                <a:solidFill>
                  <a:srgbClr val="F4F4F4"/>
                </a:solidFill>
                <a:latin typeface="Inter Light"/>
                <a:ea typeface="Inter Light"/>
                <a:cs typeface="Inter Light"/>
                <a:sym typeface="Inter Light"/>
              </a:rPr>
              <a:t>3,900 transaction records</a:t>
            </a:r>
          </a:p>
        </p:txBody>
      </p:sp>
      <p:grpSp>
        <p:nvGrpSpPr>
          <p:cNvPr id="40" name="Group 40"/>
          <p:cNvGrpSpPr/>
          <p:nvPr/>
        </p:nvGrpSpPr>
        <p:grpSpPr>
          <a:xfrm>
            <a:off x="10351220" y="4299856"/>
            <a:ext cx="4306656" cy="310244"/>
            <a:chOff x="0" y="0"/>
            <a:chExt cx="5742208" cy="413659"/>
          </a:xfrm>
        </p:grpSpPr>
        <p:sp>
          <p:nvSpPr>
            <p:cNvPr id="41" name="AutoShape 41"/>
            <p:cNvSpPr/>
            <p:nvPr/>
          </p:nvSpPr>
          <p:spPr>
            <a:xfrm>
              <a:off x="452044" y="407309"/>
              <a:ext cx="4841307" cy="0"/>
            </a:xfrm>
            <a:prstGeom prst="line">
              <a:avLst/>
            </a:prstGeom>
            <a:ln w="12700" cap="rnd">
              <a:solidFill>
                <a:srgbClr val="FFFFFF"/>
              </a:solidFill>
              <a:prstDash val="solid"/>
              <a:headEnd type="none" w="sm" len="sm"/>
              <a:tailEnd type="none" w="sm" len="sm"/>
            </a:ln>
          </p:spPr>
        </p:sp>
        <p:grpSp>
          <p:nvGrpSpPr>
            <p:cNvPr id="42" name="Group 42"/>
            <p:cNvGrpSpPr/>
            <p:nvPr/>
          </p:nvGrpSpPr>
          <p:grpSpPr>
            <a:xfrm>
              <a:off x="0" y="49894"/>
              <a:ext cx="271057" cy="258351"/>
              <a:chOff x="0" y="0"/>
              <a:chExt cx="812800" cy="774700"/>
            </a:xfrm>
          </p:grpSpPr>
          <p:sp>
            <p:nvSpPr>
              <p:cNvPr id="43" name="Freeform 4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4" name="TextBox 4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45" name="Group 45"/>
            <p:cNvGrpSpPr/>
            <p:nvPr/>
          </p:nvGrpSpPr>
          <p:grpSpPr>
            <a:xfrm>
              <a:off x="5471151" y="49894"/>
              <a:ext cx="271057" cy="258351"/>
              <a:chOff x="0" y="0"/>
              <a:chExt cx="812800" cy="774700"/>
            </a:xfrm>
          </p:grpSpPr>
          <p:sp>
            <p:nvSpPr>
              <p:cNvPr id="46" name="Freeform 4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7" name="TextBox 4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48" name="TextBox 48"/>
            <p:cNvSpPr txBox="1"/>
            <p:nvPr/>
          </p:nvSpPr>
          <p:spPr>
            <a:xfrm>
              <a:off x="452044" y="-28575"/>
              <a:ext cx="4841307" cy="310621"/>
            </a:xfrm>
            <a:prstGeom prst="rect">
              <a:avLst/>
            </a:prstGeom>
          </p:spPr>
          <p:txBody>
            <a:bodyPr lIns="0" tIns="0" rIns="0" bIns="0" rtlCol="0" anchor="t">
              <a:spAutoFit/>
            </a:bodyPr>
            <a:lstStyle/>
            <a:p>
              <a:pPr marL="0" lvl="0" indent="0" algn="l">
                <a:lnSpc>
                  <a:spcPts val="1990"/>
                </a:lnSpc>
                <a:spcBef>
                  <a:spcPct val="0"/>
                </a:spcBef>
              </a:pPr>
              <a:r>
                <a:rPr lang="en-US" sz="1421">
                  <a:solidFill>
                    <a:srgbClr val="F4F4F4"/>
                  </a:solidFill>
                  <a:latin typeface="Inter Light"/>
                  <a:ea typeface="Inter Light"/>
                  <a:cs typeface="Inter Light"/>
                  <a:sym typeface="Inter Light"/>
                </a:rPr>
                <a:t>18 data columns analyzed</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6057900" y="3288671"/>
            <a:ext cx="10537598" cy="5461821"/>
            <a:chOff x="0" y="0"/>
            <a:chExt cx="2775335" cy="1438504"/>
          </a:xfrm>
        </p:grpSpPr>
        <p:sp>
          <p:nvSpPr>
            <p:cNvPr id="12" name="Freeform 12"/>
            <p:cNvSpPr/>
            <p:nvPr/>
          </p:nvSpPr>
          <p:spPr>
            <a:xfrm>
              <a:off x="0" y="0"/>
              <a:ext cx="2775334" cy="1438504"/>
            </a:xfrm>
            <a:custGeom>
              <a:avLst/>
              <a:gdLst/>
              <a:ahLst/>
              <a:cxnLst/>
              <a:rect l="l" t="t" r="r" b="b"/>
              <a:pathLst>
                <a:path w="2775334" h="1438504">
                  <a:moveTo>
                    <a:pt x="0" y="0"/>
                  </a:moveTo>
                  <a:lnTo>
                    <a:pt x="2775334" y="0"/>
                  </a:lnTo>
                  <a:lnTo>
                    <a:pt x="2775334" y="1438504"/>
                  </a:lnTo>
                  <a:lnTo>
                    <a:pt x="0" y="1438504"/>
                  </a:lnTo>
                  <a:close/>
                </a:path>
              </a:pathLst>
            </a:custGeom>
            <a:ln w="19050" cap="sq">
              <a:solidFill>
                <a:srgbClr val="BDFF00"/>
              </a:solidFill>
              <a:prstDash val="solid"/>
              <a:miter/>
            </a:ln>
          </p:spPr>
        </p:sp>
        <p:sp>
          <p:nvSpPr>
            <p:cNvPr id="13" name="TextBox 13"/>
            <p:cNvSpPr txBox="1"/>
            <p:nvPr/>
          </p:nvSpPr>
          <p:spPr>
            <a:xfrm>
              <a:off x="0" y="-38100"/>
              <a:ext cx="2775335" cy="1476604"/>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8906920" y="5638028"/>
            <a:ext cx="4177823" cy="675364"/>
            <a:chOff x="0" y="0"/>
            <a:chExt cx="1100332" cy="177874"/>
          </a:xfrm>
        </p:grpSpPr>
        <p:sp>
          <p:nvSpPr>
            <p:cNvPr id="15" name="Freeform 15"/>
            <p:cNvSpPr/>
            <p:nvPr/>
          </p:nvSpPr>
          <p:spPr>
            <a:xfrm>
              <a:off x="0" y="0"/>
              <a:ext cx="1100332" cy="177874"/>
            </a:xfrm>
            <a:custGeom>
              <a:avLst/>
              <a:gdLst/>
              <a:ahLst/>
              <a:cxnLst/>
              <a:rect l="l" t="t" r="r" b="b"/>
              <a:pathLst>
                <a:path w="1100332" h="177874">
                  <a:moveTo>
                    <a:pt x="88937" y="0"/>
                  </a:moveTo>
                  <a:lnTo>
                    <a:pt x="1011395" y="0"/>
                  </a:lnTo>
                  <a:cubicBezTo>
                    <a:pt x="1034983" y="0"/>
                    <a:pt x="1057604" y="9370"/>
                    <a:pt x="1074283" y="26049"/>
                  </a:cubicBezTo>
                  <a:cubicBezTo>
                    <a:pt x="1090962" y="42728"/>
                    <a:pt x="1100332" y="65349"/>
                    <a:pt x="1100332" y="88937"/>
                  </a:cubicBezTo>
                  <a:lnTo>
                    <a:pt x="1100332" y="88937"/>
                  </a:lnTo>
                  <a:cubicBezTo>
                    <a:pt x="1100332" y="138055"/>
                    <a:pt x="1060513" y="177874"/>
                    <a:pt x="1011395"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6" name="TextBox 16"/>
            <p:cNvSpPr txBox="1"/>
            <p:nvPr/>
          </p:nvSpPr>
          <p:spPr>
            <a:xfrm>
              <a:off x="0" y="-38100"/>
              <a:ext cx="1100332"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Python Data Cleaning</a:t>
              </a:r>
            </a:p>
          </p:txBody>
        </p:sp>
      </p:grpSp>
      <p:grpSp>
        <p:nvGrpSpPr>
          <p:cNvPr id="17" name="Group 17"/>
          <p:cNvGrpSpPr/>
          <p:nvPr/>
        </p:nvGrpSpPr>
        <p:grpSpPr>
          <a:xfrm>
            <a:off x="4098112" y="1653671"/>
            <a:ext cx="10091776" cy="1269138"/>
            <a:chOff x="0" y="0"/>
            <a:chExt cx="13455701" cy="1692184"/>
          </a:xfrm>
        </p:grpSpPr>
        <p:grpSp>
          <p:nvGrpSpPr>
            <p:cNvPr id="18" name="Group 18"/>
            <p:cNvGrpSpPr/>
            <p:nvPr/>
          </p:nvGrpSpPr>
          <p:grpSpPr>
            <a:xfrm>
              <a:off x="3853954" y="263597"/>
              <a:ext cx="9601747" cy="1428587"/>
              <a:chOff x="0" y="0"/>
              <a:chExt cx="1896641" cy="282190"/>
            </a:xfrm>
          </p:grpSpPr>
          <p:sp>
            <p:nvSpPr>
              <p:cNvPr id="19" name="Freeform 19"/>
              <p:cNvSpPr/>
              <p:nvPr/>
            </p:nvSpPr>
            <p:spPr>
              <a:xfrm>
                <a:off x="0" y="0"/>
                <a:ext cx="1896641" cy="282190"/>
              </a:xfrm>
              <a:custGeom>
                <a:avLst/>
                <a:gdLst/>
                <a:ahLst/>
                <a:cxnLst/>
                <a:rect l="l" t="t" r="r" b="b"/>
                <a:pathLst>
                  <a:path w="1896641" h="282190">
                    <a:moveTo>
                      <a:pt x="0" y="0"/>
                    </a:moveTo>
                    <a:lnTo>
                      <a:pt x="1896641" y="0"/>
                    </a:lnTo>
                    <a:lnTo>
                      <a:pt x="1896641" y="282190"/>
                    </a:lnTo>
                    <a:lnTo>
                      <a:pt x="0" y="282190"/>
                    </a:lnTo>
                    <a:close/>
                  </a:path>
                </a:pathLst>
              </a:custGeom>
              <a:solidFill>
                <a:srgbClr val="BDFF00">
                  <a:alpha val="22745"/>
                </a:srgbClr>
              </a:solidFill>
            </p:spPr>
          </p:sp>
          <p:sp>
            <p:nvSpPr>
              <p:cNvPr id="20" name="TextBox 20"/>
              <p:cNvSpPr txBox="1"/>
              <p:nvPr/>
            </p:nvSpPr>
            <p:spPr>
              <a:xfrm>
                <a:off x="0" y="-38100"/>
                <a:ext cx="1896641" cy="32029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0" y="219075"/>
              <a:ext cx="13330732" cy="1155661"/>
            </a:xfrm>
            <a:prstGeom prst="rect">
              <a:avLst/>
            </a:prstGeom>
          </p:spPr>
          <p:txBody>
            <a:bodyPr lIns="0" tIns="0" rIns="0" bIns="0" rtlCol="0" anchor="t">
              <a:spAutoFit/>
            </a:bodyPr>
            <a:lstStyle/>
            <a:p>
              <a:pPr marL="0" lvl="0" indent="0" algn="l">
                <a:lnSpc>
                  <a:spcPts val="5074"/>
                </a:lnSpc>
              </a:pPr>
              <a:r>
                <a:rPr lang="en-US" sz="6766" b="1">
                  <a:solidFill>
                    <a:srgbClr val="F4F4F4"/>
                  </a:solidFill>
                  <a:latin typeface="Telegraf Bold"/>
                  <a:ea typeface="Telegraf Bold"/>
                  <a:cs typeface="Telegraf Bold"/>
                  <a:sym typeface="Telegraf Bold"/>
                </a:rPr>
                <a:t>DATA PREPROCESSING</a:t>
              </a:r>
            </a:p>
          </p:txBody>
        </p:sp>
      </p:grpSp>
      <p:grpSp>
        <p:nvGrpSpPr>
          <p:cNvPr id="22" name="Group 22"/>
          <p:cNvGrpSpPr/>
          <p:nvPr/>
        </p:nvGrpSpPr>
        <p:grpSpPr>
          <a:xfrm>
            <a:off x="17259300" y="1028700"/>
            <a:ext cx="1943433" cy="1894109"/>
            <a:chOff x="0" y="0"/>
            <a:chExt cx="511851" cy="498860"/>
          </a:xfrm>
        </p:grpSpPr>
        <p:sp>
          <p:nvSpPr>
            <p:cNvPr id="23" name="Freeform 23"/>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4" name="TextBox 24"/>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914733" y="7393791"/>
            <a:ext cx="1943433" cy="1864509"/>
            <a:chOff x="0" y="0"/>
            <a:chExt cx="511851" cy="491064"/>
          </a:xfrm>
        </p:grpSpPr>
        <p:sp>
          <p:nvSpPr>
            <p:cNvPr id="26" name="Freeform 26"/>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7" name="TextBox 27"/>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8" name="Group 28"/>
          <p:cNvGrpSpPr/>
          <p:nvPr/>
        </p:nvGrpSpPr>
        <p:grpSpPr>
          <a:xfrm>
            <a:off x="1782443" y="3288840"/>
            <a:ext cx="6545469" cy="5429418"/>
            <a:chOff x="0" y="0"/>
            <a:chExt cx="618227" cy="512815"/>
          </a:xfrm>
        </p:grpSpPr>
        <p:sp>
          <p:nvSpPr>
            <p:cNvPr id="29" name="Freeform 29"/>
            <p:cNvSpPr/>
            <p:nvPr/>
          </p:nvSpPr>
          <p:spPr>
            <a:xfrm>
              <a:off x="0" y="0"/>
              <a:ext cx="618227" cy="512815"/>
            </a:xfrm>
            <a:custGeom>
              <a:avLst/>
              <a:gdLst/>
              <a:ahLst/>
              <a:cxnLst/>
              <a:rect l="l" t="t" r="r" b="b"/>
              <a:pathLst>
                <a:path w="618227" h="512815">
                  <a:moveTo>
                    <a:pt x="0" y="0"/>
                  </a:moveTo>
                  <a:lnTo>
                    <a:pt x="618227" y="0"/>
                  </a:lnTo>
                  <a:lnTo>
                    <a:pt x="618227" y="512815"/>
                  </a:lnTo>
                  <a:lnTo>
                    <a:pt x="0" y="512815"/>
                  </a:lnTo>
                  <a:close/>
                </a:path>
              </a:pathLst>
            </a:custGeom>
            <a:blipFill>
              <a:blip r:embed="rId2"/>
              <a:stretch>
                <a:fillRect l="-1282" r="-1282"/>
              </a:stretch>
            </a:blipFill>
            <a:ln w="19050" cap="sq">
              <a:solidFill>
                <a:srgbClr val="BDFF00"/>
              </a:solidFill>
              <a:prstDash val="solid"/>
              <a:miter/>
            </a:ln>
          </p:spPr>
        </p:sp>
      </p:grpSp>
      <p:sp>
        <p:nvSpPr>
          <p:cNvPr id="30" name="TextBox 30"/>
          <p:cNvSpPr txBox="1"/>
          <p:nvPr/>
        </p:nvSpPr>
        <p:spPr>
          <a:xfrm>
            <a:off x="8906920" y="6704241"/>
            <a:ext cx="7192866" cy="1646035"/>
          </a:xfrm>
          <a:prstGeom prst="rect">
            <a:avLst/>
          </a:prstGeom>
        </p:spPr>
        <p:txBody>
          <a:bodyPr lIns="0" tIns="0" rIns="0" bIns="0" rtlCol="0" anchor="t">
            <a:spAutoFit/>
          </a:bodyPr>
          <a:lstStyle/>
          <a:p>
            <a:pPr marL="0" lvl="0" indent="0" algn="just">
              <a:lnSpc>
                <a:spcPts val="2198"/>
              </a:lnSpc>
              <a:spcBef>
                <a:spcPct val="0"/>
              </a:spcBef>
            </a:pPr>
            <a:r>
              <a:rPr lang="en-US" sz="1570">
                <a:solidFill>
                  <a:srgbClr val="BDFF00"/>
                </a:solidFill>
                <a:latin typeface="Inter"/>
                <a:ea typeface="Inter"/>
                <a:cs typeface="Inter"/>
                <a:sym typeface="Inter"/>
              </a:rPr>
              <a:t>Data was loaded using pandas with structure checks via .info() and .describe(). Missing review ratings were handled through median imputation by category. Column names were standardized to snake_case format. New features were engineered including age_group and purchase_frequency_days. The cleaned dataset was then loaded into PostgreSQL for SQL analysis.</a:t>
            </a:r>
          </a:p>
        </p:txBody>
      </p:sp>
      <p:sp>
        <p:nvSpPr>
          <p:cNvPr id="31" name="AutoShape 31"/>
          <p:cNvSpPr/>
          <p:nvPr/>
        </p:nvSpPr>
        <p:spPr>
          <a:xfrm>
            <a:off x="8327912" y="5124450"/>
            <a:ext cx="8267586" cy="0"/>
          </a:xfrm>
          <a:prstGeom prst="line">
            <a:avLst/>
          </a:prstGeom>
          <a:ln w="19050" cap="flat">
            <a:solidFill>
              <a:srgbClr val="BDFF00"/>
            </a:solidFill>
            <a:prstDash val="solid"/>
            <a:headEnd type="none" w="sm" len="sm"/>
            <a:tailEnd type="none" w="sm" len="sm"/>
          </a:ln>
        </p:spPr>
      </p:sp>
      <p:grpSp>
        <p:nvGrpSpPr>
          <p:cNvPr id="32" name="Group 32"/>
          <p:cNvGrpSpPr/>
          <p:nvPr/>
        </p:nvGrpSpPr>
        <p:grpSpPr>
          <a:xfrm>
            <a:off x="10484570" y="3901166"/>
            <a:ext cx="203293" cy="193764"/>
            <a:chOff x="0" y="0"/>
            <a:chExt cx="812800" cy="774700"/>
          </a:xfrm>
        </p:grpSpPr>
        <p:sp>
          <p:nvSpPr>
            <p:cNvPr id="33" name="Freeform 3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4" name="TextBox 3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4189888" y="3901166"/>
            <a:ext cx="203293" cy="193764"/>
            <a:chOff x="0" y="0"/>
            <a:chExt cx="812800" cy="774700"/>
          </a:xfrm>
        </p:grpSpPr>
        <p:sp>
          <p:nvSpPr>
            <p:cNvPr id="36" name="Freeform 3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7" name="TextBox 3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38" name="AutoShape 38"/>
          <p:cNvSpPr/>
          <p:nvPr/>
        </p:nvSpPr>
        <p:spPr>
          <a:xfrm>
            <a:off x="11071599" y="4169227"/>
            <a:ext cx="2882125" cy="0"/>
          </a:xfrm>
          <a:prstGeom prst="line">
            <a:avLst/>
          </a:prstGeom>
          <a:ln w="9525" cap="rnd">
            <a:solidFill>
              <a:srgbClr val="FFFFFF"/>
            </a:solidFill>
            <a:prstDash val="solid"/>
            <a:headEnd type="none" w="sm" len="sm"/>
            <a:tailEnd type="none" w="sm" len="sm"/>
          </a:ln>
        </p:spPr>
      </p:sp>
      <p:sp>
        <p:nvSpPr>
          <p:cNvPr id="39" name="TextBox 39"/>
          <p:cNvSpPr txBox="1"/>
          <p:nvPr/>
        </p:nvSpPr>
        <p:spPr>
          <a:xfrm>
            <a:off x="10687863" y="3859780"/>
            <a:ext cx="3630980" cy="247960"/>
          </a:xfrm>
          <a:prstGeom prst="rect">
            <a:avLst/>
          </a:prstGeom>
        </p:spPr>
        <p:txBody>
          <a:bodyPr lIns="0" tIns="0" rIns="0" bIns="0" rtlCol="0" anchor="t">
            <a:spAutoFit/>
          </a:bodyPr>
          <a:lstStyle/>
          <a:p>
            <a:pPr marL="0" lvl="0" indent="0" algn="ctr">
              <a:lnSpc>
                <a:spcPts val="2082"/>
              </a:lnSpc>
              <a:spcBef>
                <a:spcPct val="0"/>
              </a:spcBef>
            </a:pPr>
            <a:r>
              <a:rPr lang="en-US" sz="1487">
                <a:solidFill>
                  <a:srgbClr val="F4F4F4"/>
                </a:solidFill>
                <a:latin typeface="Inter Light"/>
                <a:ea typeface="Inter Light"/>
                <a:cs typeface="Inter Light"/>
                <a:sym typeface="Inter Light"/>
              </a:rPr>
              <a:t>Median imputation for missing values</a:t>
            </a:r>
          </a:p>
        </p:txBody>
      </p:sp>
      <p:grpSp>
        <p:nvGrpSpPr>
          <p:cNvPr id="40" name="Group 40"/>
          <p:cNvGrpSpPr/>
          <p:nvPr/>
        </p:nvGrpSpPr>
        <p:grpSpPr>
          <a:xfrm>
            <a:off x="10350025" y="4299856"/>
            <a:ext cx="4306656" cy="310244"/>
            <a:chOff x="0" y="0"/>
            <a:chExt cx="5742208" cy="413659"/>
          </a:xfrm>
        </p:grpSpPr>
        <p:sp>
          <p:nvSpPr>
            <p:cNvPr id="41" name="AutoShape 41"/>
            <p:cNvSpPr/>
            <p:nvPr/>
          </p:nvSpPr>
          <p:spPr>
            <a:xfrm>
              <a:off x="452044" y="407309"/>
              <a:ext cx="4841307" cy="0"/>
            </a:xfrm>
            <a:prstGeom prst="line">
              <a:avLst/>
            </a:prstGeom>
            <a:ln w="12700" cap="rnd">
              <a:solidFill>
                <a:srgbClr val="FFFFFF"/>
              </a:solidFill>
              <a:prstDash val="solid"/>
              <a:headEnd type="none" w="sm" len="sm"/>
              <a:tailEnd type="none" w="sm" len="sm"/>
            </a:ln>
          </p:spPr>
        </p:sp>
        <p:grpSp>
          <p:nvGrpSpPr>
            <p:cNvPr id="42" name="Group 42"/>
            <p:cNvGrpSpPr/>
            <p:nvPr/>
          </p:nvGrpSpPr>
          <p:grpSpPr>
            <a:xfrm>
              <a:off x="0" y="49894"/>
              <a:ext cx="271057" cy="258351"/>
              <a:chOff x="0" y="0"/>
              <a:chExt cx="812800" cy="774700"/>
            </a:xfrm>
          </p:grpSpPr>
          <p:sp>
            <p:nvSpPr>
              <p:cNvPr id="43" name="Freeform 4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4" name="TextBox 4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45" name="Group 45"/>
            <p:cNvGrpSpPr/>
            <p:nvPr/>
          </p:nvGrpSpPr>
          <p:grpSpPr>
            <a:xfrm>
              <a:off x="5471151" y="49894"/>
              <a:ext cx="271057" cy="258351"/>
              <a:chOff x="0" y="0"/>
              <a:chExt cx="812800" cy="774700"/>
            </a:xfrm>
          </p:grpSpPr>
          <p:sp>
            <p:nvSpPr>
              <p:cNvPr id="46" name="Freeform 4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7" name="TextBox 4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48" name="TextBox 48"/>
            <p:cNvSpPr txBox="1"/>
            <p:nvPr/>
          </p:nvSpPr>
          <p:spPr>
            <a:xfrm>
              <a:off x="452044" y="-28575"/>
              <a:ext cx="4841307" cy="321088"/>
            </a:xfrm>
            <a:prstGeom prst="rect">
              <a:avLst/>
            </a:prstGeom>
          </p:spPr>
          <p:txBody>
            <a:bodyPr lIns="0" tIns="0" rIns="0" bIns="0" rtlCol="0" anchor="t">
              <a:spAutoFit/>
            </a:bodyPr>
            <a:lstStyle/>
            <a:p>
              <a:pPr marL="0" lvl="0" indent="0" algn="l">
                <a:lnSpc>
                  <a:spcPts val="2082"/>
                </a:lnSpc>
                <a:spcBef>
                  <a:spcPct val="0"/>
                </a:spcBef>
              </a:pPr>
              <a:r>
                <a:rPr lang="en-US" sz="1487">
                  <a:solidFill>
                    <a:srgbClr val="F4F4F4"/>
                  </a:solidFill>
                  <a:latin typeface="Inter Light"/>
                  <a:ea typeface="Inter Light"/>
                  <a:cs typeface="Inter Light"/>
                  <a:sym typeface="Inter Light"/>
                </a:rPr>
                <a:t>Feature engineering &amp; PostgreSQL</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6057900" y="3288671"/>
            <a:ext cx="10537598" cy="5461821"/>
            <a:chOff x="0" y="0"/>
            <a:chExt cx="2775335" cy="1438504"/>
          </a:xfrm>
        </p:grpSpPr>
        <p:sp>
          <p:nvSpPr>
            <p:cNvPr id="12" name="Freeform 12"/>
            <p:cNvSpPr/>
            <p:nvPr/>
          </p:nvSpPr>
          <p:spPr>
            <a:xfrm>
              <a:off x="0" y="0"/>
              <a:ext cx="2775334" cy="1438504"/>
            </a:xfrm>
            <a:custGeom>
              <a:avLst/>
              <a:gdLst/>
              <a:ahLst/>
              <a:cxnLst/>
              <a:rect l="l" t="t" r="r" b="b"/>
              <a:pathLst>
                <a:path w="2775334" h="1438504">
                  <a:moveTo>
                    <a:pt x="0" y="0"/>
                  </a:moveTo>
                  <a:lnTo>
                    <a:pt x="2775334" y="0"/>
                  </a:lnTo>
                  <a:lnTo>
                    <a:pt x="2775334" y="1438504"/>
                  </a:lnTo>
                  <a:lnTo>
                    <a:pt x="0" y="1438504"/>
                  </a:lnTo>
                  <a:close/>
                </a:path>
              </a:pathLst>
            </a:custGeom>
            <a:ln w="19050" cap="sq">
              <a:solidFill>
                <a:srgbClr val="BDFF00"/>
              </a:solidFill>
              <a:prstDash val="solid"/>
              <a:miter/>
            </a:ln>
          </p:spPr>
        </p:sp>
        <p:sp>
          <p:nvSpPr>
            <p:cNvPr id="13" name="TextBox 13"/>
            <p:cNvSpPr txBox="1"/>
            <p:nvPr/>
          </p:nvSpPr>
          <p:spPr>
            <a:xfrm>
              <a:off x="0" y="-38100"/>
              <a:ext cx="2775335" cy="1476604"/>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8906920" y="5638028"/>
            <a:ext cx="4177823" cy="675364"/>
            <a:chOff x="0" y="0"/>
            <a:chExt cx="1100332" cy="177874"/>
          </a:xfrm>
        </p:grpSpPr>
        <p:sp>
          <p:nvSpPr>
            <p:cNvPr id="15" name="Freeform 15"/>
            <p:cNvSpPr/>
            <p:nvPr/>
          </p:nvSpPr>
          <p:spPr>
            <a:xfrm>
              <a:off x="0" y="0"/>
              <a:ext cx="1100332" cy="177874"/>
            </a:xfrm>
            <a:custGeom>
              <a:avLst/>
              <a:gdLst/>
              <a:ahLst/>
              <a:cxnLst/>
              <a:rect l="l" t="t" r="r" b="b"/>
              <a:pathLst>
                <a:path w="1100332" h="177874">
                  <a:moveTo>
                    <a:pt x="88937" y="0"/>
                  </a:moveTo>
                  <a:lnTo>
                    <a:pt x="1011395" y="0"/>
                  </a:lnTo>
                  <a:cubicBezTo>
                    <a:pt x="1034983" y="0"/>
                    <a:pt x="1057604" y="9370"/>
                    <a:pt x="1074283" y="26049"/>
                  </a:cubicBezTo>
                  <a:cubicBezTo>
                    <a:pt x="1090962" y="42728"/>
                    <a:pt x="1100332" y="65349"/>
                    <a:pt x="1100332" y="88937"/>
                  </a:cubicBezTo>
                  <a:lnTo>
                    <a:pt x="1100332" y="88937"/>
                  </a:lnTo>
                  <a:cubicBezTo>
                    <a:pt x="1100332" y="138055"/>
                    <a:pt x="1060513" y="177874"/>
                    <a:pt x="1011395"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6" name="TextBox 16"/>
            <p:cNvSpPr txBox="1"/>
            <p:nvPr/>
          </p:nvSpPr>
          <p:spPr>
            <a:xfrm>
              <a:off x="0" y="-38100"/>
              <a:ext cx="1100332"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Data-Driven Insights</a:t>
              </a:r>
            </a:p>
          </p:txBody>
        </p:sp>
      </p:grpSp>
      <p:grpSp>
        <p:nvGrpSpPr>
          <p:cNvPr id="17" name="Group 17"/>
          <p:cNvGrpSpPr/>
          <p:nvPr/>
        </p:nvGrpSpPr>
        <p:grpSpPr>
          <a:xfrm>
            <a:off x="4098112" y="1653671"/>
            <a:ext cx="10091776" cy="1269138"/>
            <a:chOff x="0" y="0"/>
            <a:chExt cx="13455701" cy="1692184"/>
          </a:xfrm>
        </p:grpSpPr>
        <p:grpSp>
          <p:nvGrpSpPr>
            <p:cNvPr id="18" name="Group 18"/>
            <p:cNvGrpSpPr/>
            <p:nvPr/>
          </p:nvGrpSpPr>
          <p:grpSpPr>
            <a:xfrm>
              <a:off x="3853954" y="263597"/>
              <a:ext cx="9601747" cy="1428587"/>
              <a:chOff x="0" y="0"/>
              <a:chExt cx="1896641" cy="282190"/>
            </a:xfrm>
          </p:grpSpPr>
          <p:sp>
            <p:nvSpPr>
              <p:cNvPr id="19" name="Freeform 19"/>
              <p:cNvSpPr/>
              <p:nvPr/>
            </p:nvSpPr>
            <p:spPr>
              <a:xfrm>
                <a:off x="0" y="0"/>
                <a:ext cx="1896641" cy="282190"/>
              </a:xfrm>
              <a:custGeom>
                <a:avLst/>
                <a:gdLst/>
                <a:ahLst/>
                <a:cxnLst/>
                <a:rect l="l" t="t" r="r" b="b"/>
                <a:pathLst>
                  <a:path w="1896641" h="282190">
                    <a:moveTo>
                      <a:pt x="0" y="0"/>
                    </a:moveTo>
                    <a:lnTo>
                      <a:pt x="1896641" y="0"/>
                    </a:lnTo>
                    <a:lnTo>
                      <a:pt x="1896641" y="282190"/>
                    </a:lnTo>
                    <a:lnTo>
                      <a:pt x="0" y="282190"/>
                    </a:lnTo>
                    <a:close/>
                  </a:path>
                </a:pathLst>
              </a:custGeom>
              <a:solidFill>
                <a:srgbClr val="BDFF00">
                  <a:alpha val="22745"/>
                </a:srgbClr>
              </a:solidFill>
            </p:spPr>
          </p:sp>
          <p:sp>
            <p:nvSpPr>
              <p:cNvPr id="20" name="TextBox 20"/>
              <p:cNvSpPr txBox="1"/>
              <p:nvPr/>
            </p:nvSpPr>
            <p:spPr>
              <a:xfrm>
                <a:off x="0" y="-38100"/>
                <a:ext cx="1896641" cy="32029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0" y="171450"/>
              <a:ext cx="13330732" cy="879243"/>
            </a:xfrm>
            <a:prstGeom prst="rect">
              <a:avLst/>
            </a:prstGeom>
          </p:spPr>
          <p:txBody>
            <a:bodyPr lIns="0" tIns="0" rIns="0" bIns="0" rtlCol="0" anchor="t">
              <a:spAutoFit/>
            </a:bodyPr>
            <a:lstStyle/>
            <a:p>
              <a:pPr marL="0" lvl="0" indent="0" algn="l">
                <a:lnSpc>
                  <a:spcPts val="3895"/>
                </a:lnSpc>
              </a:pPr>
              <a:r>
                <a:rPr lang="en-US" sz="5193" b="1">
                  <a:solidFill>
                    <a:srgbClr val="F4F4F4"/>
                  </a:solidFill>
                  <a:latin typeface="Telegraf Bold"/>
                  <a:ea typeface="Telegraf Bold"/>
                  <a:cs typeface="Telegraf Bold"/>
                  <a:sym typeface="Telegraf Bold"/>
                </a:rPr>
                <a:t>KEY SQL ANALYSIS FINDINGS</a:t>
              </a:r>
            </a:p>
          </p:txBody>
        </p:sp>
      </p:grpSp>
      <p:grpSp>
        <p:nvGrpSpPr>
          <p:cNvPr id="22" name="Group 22"/>
          <p:cNvGrpSpPr/>
          <p:nvPr/>
        </p:nvGrpSpPr>
        <p:grpSpPr>
          <a:xfrm>
            <a:off x="17259300" y="1028700"/>
            <a:ext cx="1943433" cy="1894109"/>
            <a:chOff x="0" y="0"/>
            <a:chExt cx="511851" cy="498860"/>
          </a:xfrm>
        </p:grpSpPr>
        <p:sp>
          <p:nvSpPr>
            <p:cNvPr id="23" name="Freeform 23"/>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4" name="TextBox 24"/>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914733" y="7393791"/>
            <a:ext cx="1943433" cy="1864509"/>
            <a:chOff x="0" y="0"/>
            <a:chExt cx="511851" cy="491064"/>
          </a:xfrm>
        </p:grpSpPr>
        <p:sp>
          <p:nvSpPr>
            <p:cNvPr id="26" name="Freeform 26"/>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7" name="TextBox 27"/>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8" name="Group 28"/>
          <p:cNvGrpSpPr/>
          <p:nvPr/>
        </p:nvGrpSpPr>
        <p:grpSpPr>
          <a:xfrm>
            <a:off x="1782443" y="3288840"/>
            <a:ext cx="6545469" cy="5429418"/>
            <a:chOff x="0" y="0"/>
            <a:chExt cx="618227" cy="512815"/>
          </a:xfrm>
        </p:grpSpPr>
        <p:sp>
          <p:nvSpPr>
            <p:cNvPr id="29" name="Freeform 29"/>
            <p:cNvSpPr/>
            <p:nvPr/>
          </p:nvSpPr>
          <p:spPr>
            <a:xfrm>
              <a:off x="0" y="0"/>
              <a:ext cx="618227" cy="512815"/>
            </a:xfrm>
            <a:custGeom>
              <a:avLst/>
              <a:gdLst/>
              <a:ahLst/>
              <a:cxnLst/>
              <a:rect l="l" t="t" r="r" b="b"/>
              <a:pathLst>
                <a:path w="618227" h="512815">
                  <a:moveTo>
                    <a:pt x="0" y="0"/>
                  </a:moveTo>
                  <a:lnTo>
                    <a:pt x="618227" y="0"/>
                  </a:lnTo>
                  <a:lnTo>
                    <a:pt x="618227" y="512815"/>
                  </a:lnTo>
                  <a:lnTo>
                    <a:pt x="0" y="512815"/>
                  </a:lnTo>
                  <a:close/>
                </a:path>
              </a:pathLst>
            </a:custGeom>
            <a:blipFill>
              <a:blip r:embed="rId2"/>
              <a:stretch>
                <a:fillRect l="-1282" r="-1282"/>
              </a:stretch>
            </a:blipFill>
            <a:ln w="19050" cap="sq">
              <a:solidFill>
                <a:srgbClr val="BDFF00"/>
              </a:solidFill>
              <a:prstDash val="solid"/>
              <a:miter/>
            </a:ln>
          </p:spPr>
        </p:sp>
      </p:grpSp>
      <p:sp>
        <p:nvSpPr>
          <p:cNvPr id="30" name="TextBox 30"/>
          <p:cNvSpPr txBox="1"/>
          <p:nvPr/>
        </p:nvSpPr>
        <p:spPr>
          <a:xfrm>
            <a:off x="8906920" y="6704241"/>
            <a:ext cx="7192866" cy="1646035"/>
          </a:xfrm>
          <a:prstGeom prst="rect">
            <a:avLst/>
          </a:prstGeom>
        </p:spPr>
        <p:txBody>
          <a:bodyPr lIns="0" tIns="0" rIns="0" bIns="0" rtlCol="0" anchor="t">
            <a:spAutoFit/>
          </a:bodyPr>
          <a:lstStyle/>
          <a:p>
            <a:pPr marL="0" lvl="0" indent="0" algn="just">
              <a:lnSpc>
                <a:spcPts val="2198"/>
              </a:lnSpc>
              <a:spcBef>
                <a:spcPct val="0"/>
              </a:spcBef>
            </a:pPr>
            <a:r>
              <a:rPr lang="en-US" sz="1570">
                <a:solidFill>
                  <a:srgbClr val="BDFF00"/>
                </a:solidFill>
                <a:latin typeface="Inter"/>
                <a:ea typeface="Inter"/>
                <a:cs typeface="Inter"/>
                <a:sym typeface="Inter"/>
              </a:rPr>
              <a:t>Our SQL analysis of 3,900 transaction records revealed critical patterns in customer behavior and revenue generation. Male customers contributed higher overall revenue than females. Surprisingly, discounts did not reduce profitability—we identified high-spending customers who actively use discounts. Express shipping customers demonstrated slightly higher spending patterns.</a:t>
            </a:r>
          </a:p>
        </p:txBody>
      </p:sp>
      <p:sp>
        <p:nvSpPr>
          <p:cNvPr id="31" name="AutoShape 31"/>
          <p:cNvSpPr/>
          <p:nvPr/>
        </p:nvSpPr>
        <p:spPr>
          <a:xfrm>
            <a:off x="8327912" y="5124450"/>
            <a:ext cx="8267586" cy="0"/>
          </a:xfrm>
          <a:prstGeom prst="line">
            <a:avLst/>
          </a:prstGeom>
          <a:ln w="19050" cap="flat">
            <a:solidFill>
              <a:srgbClr val="BDFF00"/>
            </a:solidFill>
            <a:prstDash val="solid"/>
            <a:headEnd type="none" w="sm" len="sm"/>
            <a:tailEnd type="none" w="sm" len="sm"/>
          </a:ln>
        </p:spPr>
      </p:sp>
      <p:grpSp>
        <p:nvGrpSpPr>
          <p:cNvPr id="32" name="Group 32"/>
          <p:cNvGrpSpPr/>
          <p:nvPr/>
        </p:nvGrpSpPr>
        <p:grpSpPr>
          <a:xfrm>
            <a:off x="10689058" y="3901166"/>
            <a:ext cx="203293" cy="193764"/>
            <a:chOff x="0" y="0"/>
            <a:chExt cx="812800" cy="774700"/>
          </a:xfrm>
        </p:grpSpPr>
        <p:sp>
          <p:nvSpPr>
            <p:cNvPr id="33" name="Freeform 3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4" name="TextBox 3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4116745" y="3901166"/>
            <a:ext cx="203293" cy="193764"/>
            <a:chOff x="0" y="0"/>
            <a:chExt cx="812800" cy="774700"/>
          </a:xfrm>
        </p:grpSpPr>
        <p:sp>
          <p:nvSpPr>
            <p:cNvPr id="36" name="Freeform 3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7" name="TextBox 3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38" name="AutoShape 38"/>
          <p:cNvSpPr/>
          <p:nvPr/>
        </p:nvSpPr>
        <p:spPr>
          <a:xfrm>
            <a:off x="11071599" y="4169227"/>
            <a:ext cx="2882125" cy="0"/>
          </a:xfrm>
          <a:prstGeom prst="line">
            <a:avLst/>
          </a:prstGeom>
          <a:ln w="9525" cap="rnd">
            <a:solidFill>
              <a:srgbClr val="FFFFFF"/>
            </a:solidFill>
            <a:prstDash val="solid"/>
            <a:headEnd type="none" w="sm" len="sm"/>
            <a:tailEnd type="none" w="sm" len="sm"/>
          </a:ln>
        </p:spPr>
      </p:sp>
      <p:sp>
        <p:nvSpPr>
          <p:cNvPr id="39" name="TextBox 39"/>
          <p:cNvSpPr txBox="1"/>
          <p:nvPr/>
        </p:nvSpPr>
        <p:spPr>
          <a:xfrm>
            <a:off x="10689058" y="3835170"/>
            <a:ext cx="3630980" cy="247960"/>
          </a:xfrm>
          <a:prstGeom prst="rect">
            <a:avLst/>
          </a:prstGeom>
        </p:spPr>
        <p:txBody>
          <a:bodyPr lIns="0" tIns="0" rIns="0" bIns="0" rtlCol="0" anchor="t">
            <a:spAutoFit/>
          </a:bodyPr>
          <a:lstStyle/>
          <a:p>
            <a:pPr marL="0" lvl="0" indent="0" algn="ctr">
              <a:lnSpc>
                <a:spcPts val="2082"/>
              </a:lnSpc>
              <a:spcBef>
                <a:spcPct val="0"/>
              </a:spcBef>
            </a:pPr>
            <a:r>
              <a:rPr lang="en-US" sz="1487">
                <a:solidFill>
                  <a:srgbClr val="F4F4F4"/>
                </a:solidFill>
                <a:latin typeface="Inter Light"/>
                <a:ea typeface="Inter Light"/>
                <a:cs typeface="Inter Light"/>
                <a:sym typeface="Inter Light"/>
              </a:rPr>
              <a:t>Top-rated: Gloves, Sandals, Boots</a:t>
            </a:r>
          </a:p>
        </p:txBody>
      </p:sp>
      <p:grpSp>
        <p:nvGrpSpPr>
          <p:cNvPr id="40" name="Group 40"/>
          <p:cNvGrpSpPr/>
          <p:nvPr/>
        </p:nvGrpSpPr>
        <p:grpSpPr>
          <a:xfrm>
            <a:off x="10350025" y="4299856"/>
            <a:ext cx="4306656" cy="310244"/>
            <a:chOff x="0" y="0"/>
            <a:chExt cx="5742208" cy="413659"/>
          </a:xfrm>
        </p:grpSpPr>
        <p:sp>
          <p:nvSpPr>
            <p:cNvPr id="41" name="AutoShape 41"/>
            <p:cNvSpPr/>
            <p:nvPr/>
          </p:nvSpPr>
          <p:spPr>
            <a:xfrm>
              <a:off x="452044" y="407309"/>
              <a:ext cx="4841307" cy="0"/>
            </a:xfrm>
            <a:prstGeom prst="line">
              <a:avLst/>
            </a:prstGeom>
            <a:ln w="12700" cap="rnd">
              <a:solidFill>
                <a:srgbClr val="FFFFFF"/>
              </a:solidFill>
              <a:prstDash val="solid"/>
              <a:headEnd type="none" w="sm" len="sm"/>
              <a:tailEnd type="none" w="sm" len="sm"/>
            </a:ln>
          </p:spPr>
        </p:sp>
        <p:grpSp>
          <p:nvGrpSpPr>
            <p:cNvPr id="42" name="Group 42"/>
            <p:cNvGrpSpPr/>
            <p:nvPr/>
          </p:nvGrpSpPr>
          <p:grpSpPr>
            <a:xfrm>
              <a:off x="0" y="49894"/>
              <a:ext cx="271057" cy="258351"/>
              <a:chOff x="0" y="0"/>
              <a:chExt cx="812800" cy="774700"/>
            </a:xfrm>
          </p:grpSpPr>
          <p:sp>
            <p:nvSpPr>
              <p:cNvPr id="43" name="Freeform 4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4" name="TextBox 4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45" name="Group 45"/>
            <p:cNvGrpSpPr/>
            <p:nvPr/>
          </p:nvGrpSpPr>
          <p:grpSpPr>
            <a:xfrm>
              <a:off x="5471151" y="49894"/>
              <a:ext cx="271057" cy="258351"/>
              <a:chOff x="0" y="0"/>
              <a:chExt cx="812800" cy="774700"/>
            </a:xfrm>
          </p:grpSpPr>
          <p:sp>
            <p:nvSpPr>
              <p:cNvPr id="46" name="Freeform 4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7" name="TextBox 4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48" name="TextBox 48"/>
            <p:cNvSpPr txBox="1"/>
            <p:nvPr/>
          </p:nvSpPr>
          <p:spPr>
            <a:xfrm>
              <a:off x="452044" y="-28575"/>
              <a:ext cx="4841307" cy="321088"/>
            </a:xfrm>
            <a:prstGeom prst="rect">
              <a:avLst/>
            </a:prstGeom>
          </p:spPr>
          <p:txBody>
            <a:bodyPr lIns="0" tIns="0" rIns="0" bIns="0" rtlCol="0" anchor="t">
              <a:spAutoFit/>
            </a:bodyPr>
            <a:lstStyle/>
            <a:p>
              <a:pPr marL="0" lvl="0" indent="0" algn="l">
                <a:lnSpc>
                  <a:spcPts val="2082"/>
                </a:lnSpc>
                <a:spcBef>
                  <a:spcPct val="0"/>
                </a:spcBef>
              </a:pPr>
              <a:r>
                <a:rPr lang="en-US" sz="1487">
                  <a:solidFill>
                    <a:srgbClr val="F4F4F4"/>
                  </a:solidFill>
                  <a:latin typeface="Inter Light"/>
                  <a:ea typeface="Inter Light"/>
                  <a:cs typeface="Inter Light"/>
                  <a:sym typeface="Inter Light"/>
                </a:rPr>
                <a:t>High-value discount users identified</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6057900" y="3288671"/>
            <a:ext cx="10537598" cy="5461821"/>
            <a:chOff x="0" y="0"/>
            <a:chExt cx="2775335" cy="1438504"/>
          </a:xfrm>
        </p:grpSpPr>
        <p:sp>
          <p:nvSpPr>
            <p:cNvPr id="12" name="Freeform 12"/>
            <p:cNvSpPr/>
            <p:nvPr/>
          </p:nvSpPr>
          <p:spPr>
            <a:xfrm>
              <a:off x="0" y="0"/>
              <a:ext cx="2775334" cy="1438504"/>
            </a:xfrm>
            <a:custGeom>
              <a:avLst/>
              <a:gdLst/>
              <a:ahLst/>
              <a:cxnLst/>
              <a:rect l="l" t="t" r="r" b="b"/>
              <a:pathLst>
                <a:path w="2775334" h="1438504">
                  <a:moveTo>
                    <a:pt x="0" y="0"/>
                  </a:moveTo>
                  <a:lnTo>
                    <a:pt x="2775334" y="0"/>
                  </a:lnTo>
                  <a:lnTo>
                    <a:pt x="2775334" y="1438504"/>
                  </a:lnTo>
                  <a:lnTo>
                    <a:pt x="0" y="1438504"/>
                  </a:lnTo>
                  <a:close/>
                </a:path>
              </a:pathLst>
            </a:custGeom>
            <a:ln w="19050" cap="sq">
              <a:solidFill>
                <a:srgbClr val="BDFF00"/>
              </a:solidFill>
              <a:prstDash val="solid"/>
              <a:miter/>
            </a:ln>
          </p:spPr>
        </p:sp>
        <p:sp>
          <p:nvSpPr>
            <p:cNvPr id="13" name="TextBox 13"/>
            <p:cNvSpPr txBox="1"/>
            <p:nvPr/>
          </p:nvSpPr>
          <p:spPr>
            <a:xfrm>
              <a:off x="0" y="-38100"/>
              <a:ext cx="2775335" cy="1476604"/>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8906920" y="5638028"/>
            <a:ext cx="4177823" cy="675364"/>
            <a:chOff x="0" y="0"/>
            <a:chExt cx="1100332" cy="177874"/>
          </a:xfrm>
        </p:grpSpPr>
        <p:sp>
          <p:nvSpPr>
            <p:cNvPr id="15" name="Freeform 15"/>
            <p:cNvSpPr/>
            <p:nvPr/>
          </p:nvSpPr>
          <p:spPr>
            <a:xfrm>
              <a:off x="0" y="0"/>
              <a:ext cx="1100332" cy="177874"/>
            </a:xfrm>
            <a:custGeom>
              <a:avLst/>
              <a:gdLst/>
              <a:ahLst/>
              <a:cxnLst/>
              <a:rect l="l" t="t" r="r" b="b"/>
              <a:pathLst>
                <a:path w="1100332" h="177874">
                  <a:moveTo>
                    <a:pt x="88937" y="0"/>
                  </a:moveTo>
                  <a:lnTo>
                    <a:pt x="1011395" y="0"/>
                  </a:lnTo>
                  <a:cubicBezTo>
                    <a:pt x="1034983" y="0"/>
                    <a:pt x="1057604" y="9370"/>
                    <a:pt x="1074283" y="26049"/>
                  </a:cubicBezTo>
                  <a:cubicBezTo>
                    <a:pt x="1090962" y="42728"/>
                    <a:pt x="1100332" y="65349"/>
                    <a:pt x="1100332" y="88937"/>
                  </a:cubicBezTo>
                  <a:lnTo>
                    <a:pt x="1100332" y="88937"/>
                  </a:lnTo>
                  <a:cubicBezTo>
                    <a:pt x="1100332" y="138055"/>
                    <a:pt x="1060513" y="177874"/>
                    <a:pt x="1011395"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6" name="TextBox 16"/>
            <p:cNvSpPr txBox="1"/>
            <p:nvPr/>
          </p:nvSpPr>
          <p:spPr>
            <a:xfrm>
              <a:off x="0" y="-38100"/>
              <a:ext cx="1100332"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Customer Segment Insights</a:t>
              </a:r>
            </a:p>
          </p:txBody>
        </p:sp>
      </p:grpSp>
      <p:grpSp>
        <p:nvGrpSpPr>
          <p:cNvPr id="17" name="Group 17"/>
          <p:cNvGrpSpPr/>
          <p:nvPr/>
        </p:nvGrpSpPr>
        <p:grpSpPr>
          <a:xfrm>
            <a:off x="4098112" y="1653671"/>
            <a:ext cx="10091776" cy="1269138"/>
            <a:chOff x="0" y="0"/>
            <a:chExt cx="13455701" cy="1692184"/>
          </a:xfrm>
        </p:grpSpPr>
        <p:grpSp>
          <p:nvGrpSpPr>
            <p:cNvPr id="18" name="Group 18"/>
            <p:cNvGrpSpPr/>
            <p:nvPr/>
          </p:nvGrpSpPr>
          <p:grpSpPr>
            <a:xfrm>
              <a:off x="3853954" y="263597"/>
              <a:ext cx="9601747" cy="1428587"/>
              <a:chOff x="0" y="0"/>
              <a:chExt cx="1896641" cy="282190"/>
            </a:xfrm>
          </p:grpSpPr>
          <p:sp>
            <p:nvSpPr>
              <p:cNvPr id="19" name="Freeform 19"/>
              <p:cNvSpPr/>
              <p:nvPr/>
            </p:nvSpPr>
            <p:spPr>
              <a:xfrm>
                <a:off x="0" y="0"/>
                <a:ext cx="1896641" cy="282190"/>
              </a:xfrm>
              <a:custGeom>
                <a:avLst/>
                <a:gdLst/>
                <a:ahLst/>
                <a:cxnLst/>
                <a:rect l="l" t="t" r="r" b="b"/>
                <a:pathLst>
                  <a:path w="1896641" h="282190">
                    <a:moveTo>
                      <a:pt x="0" y="0"/>
                    </a:moveTo>
                    <a:lnTo>
                      <a:pt x="1896641" y="0"/>
                    </a:lnTo>
                    <a:lnTo>
                      <a:pt x="1896641" y="282190"/>
                    </a:lnTo>
                    <a:lnTo>
                      <a:pt x="0" y="282190"/>
                    </a:lnTo>
                    <a:close/>
                  </a:path>
                </a:pathLst>
              </a:custGeom>
              <a:solidFill>
                <a:srgbClr val="BDFF00">
                  <a:alpha val="22745"/>
                </a:srgbClr>
              </a:solidFill>
            </p:spPr>
          </p:sp>
          <p:sp>
            <p:nvSpPr>
              <p:cNvPr id="20" name="TextBox 20"/>
              <p:cNvSpPr txBox="1"/>
              <p:nvPr/>
            </p:nvSpPr>
            <p:spPr>
              <a:xfrm>
                <a:off x="0" y="-38100"/>
                <a:ext cx="1896641" cy="32029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0" y="171450"/>
              <a:ext cx="13330732" cy="879243"/>
            </a:xfrm>
            <a:prstGeom prst="rect">
              <a:avLst/>
            </a:prstGeom>
          </p:spPr>
          <p:txBody>
            <a:bodyPr lIns="0" tIns="0" rIns="0" bIns="0" rtlCol="0" anchor="t">
              <a:spAutoFit/>
            </a:bodyPr>
            <a:lstStyle/>
            <a:p>
              <a:pPr marL="0" lvl="0" indent="0" algn="l">
                <a:lnSpc>
                  <a:spcPts val="3895"/>
                </a:lnSpc>
              </a:pPr>
              <a:r>
                <a:rPr lang="en-US" sz="5193" b="1">
                  <a:solidFill>
                    <a:srgbClr val="F4F4F4"/>
                  </a:solidFill>
                  <a:latin typeface="Telegraf Bold"/>
                  <a:ea typeface="Telegraf Bold"/>
                  <a:cs typeface="Telegraf Bold"/>
                  <a:sym typeface="Telegraf Bold"/>
                </a:rPr>
                <a:t>KEY SQL ANALYSIS FINDINGS</a:t>
              </a:r>
            </a:p>
          </p:txBody>
        </p:sp>
      </p:grpSp>
      <p:grpSp>
        <p:nvGrpSpPr>
          <p:cNvPr id="22" name="Group 22"/>
          <p:cNvGrpSpPr/>
          <p:nvPr/>
        </p:nvGrpSpPr>
        <p:grpSpPr>
          <a:xfrm>
            <a:off x="17259300" y="1028700"/>
            <a:ext cx="1943433" cy="1894109"/>
            <a:chOff x="0" y="0"/>
            <a:chExt cx="511851" cy="498860"/>
          </a:xfrm>
        </p:grpSpPr>
        <p:sp>
          <p:nvSpPr>
            <p:cNvPr id="23" name="Freeform 23"/>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4" name="TextBox 24"/>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914733" y="7393791"/>
            <a:ext cx="1943433" cy="1864509"/>
            <a:chOff x="0" y="0"/>
            <a:chExt cx="511851" cy="491064"/>
          </a:xfrm>
        </p:grpSpPr>
        <p:sp>
          <p:nvSpPr>
            <p:cNvPr id="26" name="Freeform 26"/>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7" name="TextBox 27"/>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8" name="Group 28"/>
          <p:cNvGrpSpPr/>
          <p:nvPr/>
        </p:nvGrpSpPr>
        <p:grpSpPr>
          <a:xfrm>
            <a:off x="1782443" y="3288840"/>
            <a:ext cx="6545469" cy="5429418"/>
            <a:chOff x="0" y="0"/>
            <a:chExt cx="618227" cy="512815"/>
          </a:xfrm>
        </p:grpSpPr>
        <p:sp>
          <p:nvSpPr>
            <p:cNvPr id="29" name="Freeform 29"/>
            <p:cNvSpPr/>
            <p:nvPr/>
          </p:nvSpPr>
          <p:spPr>
            <a:xfrm>
              <a:off x="0" y="0"/>
              <a:ext cx="618227" cy="512815"/>
            </a:xfrm>
            <a:custGeom>
              <a:avLst/>
              <a:gdLst/>
              <a:ahLst/>
              <a:cxnLst/>
              <a:rect l="l" t="t" r="r" b="b"/>
              <a:pathLst>
                <a:path w="618227" h="512815">
                  <a:moveTo>
                    <a:pt x="0" y="0"/>
                  </a:moveTo>
                  <a:lnTo>
                    <a:pt x="618227" y="0"/>
                  </a:lnTo>
                  <a:lnTo>
                    <a:pt x="618227" y="512815"/>
                  </a:lnTo>
                  <a:lnTo>
                    <a:pt x="0" y="512815"/>
                  </a:lnTo>
                  <a:close/>
                </a:path>
              </a:pathLst>
            </a:custGeom>
            <a:blipFill>
              <a:blip r:embed="rId2"/>
              <a:stretch>
                <a:fillRect l="-1282" r="-1282"/>
              </a:stretch>
            </a:blipFill>
            <a:ln w="19050" cap="sq">
              <a:solidFill>
                <a:srgbClr val="BDFF00"/>
              </a:solidFill>
              <a:prstDash val="solid"/>
              <a:miter/>
            </a:ln>
          </p:spPr>
        </p:sp>
      </p:grpSp>
      <p:sp>
        <p:nvSpPr>
          <p:cNvPr id="30" name="TextBox 30"/>
          <p:cNvSpPr txBox="1"/>
          <p:nvPr/>
        </p:nvSpPr>
        <p:spPr>
          <a:xfrm>
            <a:off x="8906920" y="6704241"/>
            <a:ext cx="7192866" cy="1277339"/>
          </a:xfrm>
          <a:prstGeom prst="rect">
            <a:avLst/>
          </a:prstGeom>
        </p:spPr>
        <p:txBody>
          <a:bodyPr lIns="0" tIns="0" rIns="0" bIns="0" rtlCol="0" anchor="t">
            <a:spAutoFit/>
          </a:bodyPr>
          <a:lstStyle/>
          <a:p>
            <a:pPr marL="0" lvl="0" indent="0" algn="just">
              <a:lnSpc>
                <a:spcPts val="2045"/>
              </a:lnSpc>
              <a:spcBef>
                <a:spcPct val="0"/>
              </a:spcBef>
            </a:pPr>
            <a:r>
              <a:rPr lang="en-US" sz="1461">
                <a:solidFill>
                  <a:srgbClr val="BDFF00"/>
                </a:solidFill>
                <a:latin typeface="Inter"/>
                <a:ea typeface="Inter"/>
                <a:cs typeface="Inter"/>
                <a:sym typeface="Inter"/>
              </a:rPr>
              <a:t>Subscriptions improved customer retention but showed limited spend difference between subscribers and non-subscribers. Interestingly, many repeat buyers were not subscribers, indicating an opportunity to convert loyal customers. Young adults contributed the highest revenue among all age groups, making them a key target demographic.</a:t>
            </a:r>
          </a:p>
        </p:txBody>
      </p:sp>
      <p:sp>
        <p:nvSpPr>
          <p:cNvPr id="31" name="AutoShape 31"/>
          <p:cNvSpPr/>
          <p:nvPr/>
        </p:nvSpPr>
        <p:spPr>
          <a:xfrm>
            <a:off x="8327912" y="5124450"/>
            <a:ext cx="8267586" cy="0"/>
          </a:xfrm>
          <a:prstGeom prst="line">
            <a:avLst/>
          </a:prstGeom>
          <a:ln w="19050" cap="flat">
            <a:solidFill>
              <a:srgbClr val="BDFF00"/>
            </a:solidFill>
            <a:prstDash val="solid"/>
            <a:headEnd type="none" w="sm" len="sm"/>
            <a:tailEnd type="none" w="sm" len="sm"/>
          </a:ln>
        </p:spPr>
      </p:sp>
      <p:grpSp>
        <p:nvGrpSpPr>
          <p:cNvPr id="32" name="Group 32"/>
          <p:cNvGrpSpPr/>
          <p:nvPr/>
        </p:nvGrpSpPr>
        <p:grpSpPr>
          <a:xfrm>
            <a:off x="10350025" y="3624578"/>
            <a:ext cx="203293" cy="193764"/>
            <a:chOff x="0" y="0"/>
            <a:chExt cx="812800" cy="774700"/>
          </a:xfrm>
        </p:grpSpPr>
        <p:sp>
          <p:nvSpPr>
            <p:cNvPr id="33" name="Freeform 3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4" name="TextBox 3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4461912" y="3619210"/>
            <a:ext cx="203293" cy="193764"/>
            <a:chOff x="0" y="0"/>
            <a:chExt cx="812800" cy="774700"/>
          </a:xfrm>
        </p:grpSpPr>
        <p:sp>
          <p:nvSpPr>
            <p:cNvPr id="36" name="Freeform 3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7" name="TextBox 3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38" name="AutoShape 38"/>
          <p:cNvSpPr/>
          <p:nvPr/>
        </p:nvSpPr>
        <p:spPr>
          <a:xfrm>
            <a:off x="11071599" y="4169227"/>
            <a:ext cx="2882125" cy="0"/>
          </a:xfrm>
          <a:prstGeom prst="line">
            <a:avLst/>
          </a:prstGeom>
          <a:ln w="9525" cap="rnd">
            <a:solidFill>
              <a:srgbClr val="FFFFFF"/>
            </a:solidFill>
            <a:prstDash val="solid"/>
            <a:headEnd type="none" w="sm" len="sm"/>
            <a:tailEnd type="none" w="sm" len="sm"/>
          </a:ln>
        </p:spPr>
      </p:sp>
      <p:sp>
        <p:nvSpPr>
          <p:cNvPr id="39" name="TextBox 39"/>
          <p:cNvSpPr txBox="1"/>
          <p:nvPr/>
        </p:nvSpPr>
        <p:spPr>
          <a:xfrm>
            <a:off x="10646215" y="3608357"/>
            <a:ext cx="3630980" cy="231542"/>
          </a:xfrm>
          <a:prstGeom prst="rect">
            <a:avLst/>
          </a:prstGeom>
        </p:spPr>
        <p:txBody>
          <a:bodyPr lIns="0" tIns="0" rIns="0" bIns="0" rtlCol="0" anchor="t">
            <a:spAutoFit/>
          </a:bodyPr>
          <a:lstStyle/>
          <a:p>
            <a:pPr marL="0" lvl="0" indent="0" algn="ctr">
              <a:lnSpc>
                <a:spcPts val="1937"/>
              </a:lnSpc>
              <a:spcBef>
                <a:spcPct val="0"/>
              </a:spcBef>
            </a:pPr>
            <a:r>
              <a:rPr lang="en-US" sz="1384" dirty="0">
                <a:solidFill>
                  <a:srgbClr val="F4F4F4"/>
                </a:solidFill>
                <a:latin typeface="Inter Light"/>
                <a:ea typeface="Inter Light"/>
                <a:cs typeface="Inter Light"/>
                <a:sym typeface="Inter Light"/>
              </a:rPr>
              <a:t>Hats and Sneakers were discount-dependent</a:t>
            </a:r>
          </a:p>
        </p:txBody>
      </p:sp>
      <p:grpSp>
        <p:nvGrpSpPr>
          <p:cNvPr id="40" name="Group 40"/>
          <p:cNvGrpSpPr/>
          <p:nvPr/>
        </p:nvGrpSpPr>
        <p:grpSpPr>
          <a:xfrm>
            <a:off x="10350025" y="4299856"/>
            <a:ext cx="4306656" cy="310244"/>
            <a:chOff x="0" y="0"/>
            <a:chExt cx="5742208" cy="413659"/>
          </a:xfrm>
        </p:grpSpPr>
        <p:sp>
          <p:nvSpPr>
            <p:cNvPr id="41" name="AutoShape 41"/>
            <p:cNvSpPr/>
            <p:nvPr/>
          </p:nvSpPr>
          <p:spPr>
            <a:xfrm>
              <a:off x="452044" y="407309"/>
              <a:ext cx="4841307" cy="0"/>
            </a:xfrm>
            <a:prstGeom prst="line">
              <a:avLst/>
            </a:prstGeom>
            <a:ln w="12700" cap="rnd">
              <a:solidFill>
                <a:srgbClr val="FFFFFF"/>
              </a:solidFill>
              <a:prstDash val="solid"/>
              <a:headEnd type="none" w="sm" len="sm"/>
              <a:tailEnd type="none" w="sm" len="sm"/>
            </a:ln>
          </p:spPr>
        </p:sp>
        <p:grpSp>
          <p:nvGrpSpPr>
            <p:cNvPr id="42" name="Group 42"/>
            <p:cNvGrpSpPr/>
            <p:nvPr/>
          </p:nvGrpSpPr>
          <p:grpSpPr>
            <a:xfrm>
              <a:off x="0" y="49894"/>
              <a:ext cx="271057" cy="258351"/>
              <a:chOff x="0" y="0"/>
              <a:chExt cx="812800" cy="774700"/>
            </a:xfrm>
          </p:grpSpPr>
          <p:sp>
            <p:nvSpPr>
              <p:cNvPr id="43" name="Freeform 4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4" name="TextBox 4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45" name="Group 45"/>
            <p:cNvGrpSpPr/>
            <p:nvPr/>
          </p:nvGrpSpPr>
          <p:grpSpPr>
            <a:xfrm>
              <a:off x="5471151" y="49894"/>
              <a:ext cx="271057" cy="258351"/>
              <a:chOff x="0" y="0"/>
              <a:chExt cx="812800" cy="774700"/>
            </a:xfrm>
          </p:grpSpPr>
          <p:sp>
            <p:nvSpPr>
              <p:cNvPr id="46" name="Freeform 4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7" name="TextBox 4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48" name="TextBox 48"/>
            <p:cNvSpPr txBox="1"/>
            <p:nvPr/>
          </p:nvSpPr>
          <p:spPr>
            <a:xfrm>
              <a:off x="452044" y="-28575"/>
              <a:ext cx="4841307" cy="299198"/>
            </a:xfrm>
            <a:prstGeom prst="rect">
              <a:avLst/>
            </a:prstGeom>
          </p:spPr>
          <p:txBody>
            <a:bodyPr lIns="0" tIns="0" rIns="0" bIns="0" rtlCol="0" anchor="t">
              <a:spAutoFit/>
            </a:bodyPr>
            <a:lstStyle/>
            <a:p>
              <a:pPr marL="0" lvl="0" indent="0" algn="l">
                <a:lnSpc>
                  <a:spcPts val="1937"/>
                </a:lnSpc>
                <a:spcBef>
                  <a:spcPct val="0"/>
                </a:spcBef>
              </a:pPr>
              <a:r>
                <a:rPr lang="en-US" sz="1384">
                  <a:solidFill>
                    <a:srgbClr val="F4F4F4"/>
                  </a:solidFill>
                  <a:latin typeface="Inter Light"/>
                  <a:ea typeface="Inter Light"/>
                  <a:cs typeface="Inter Light"/>
                  <a:sym typeface="Inter Light"/>
                </a:rPr>
                <a:t>Young adults drove highest revenue</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1427494" y="4458674"/>
            <a:ext cx="15454703" cy="4433029"/>
            <a:chOff x="0" y="0"/>
            <a:chExt cx="4070374" cy="1167547"/>
          </a:xfrm>
        </p:grpSpPr>
        <p:sp>
          <p:nvSpPr>
            <p:cNvPr id="12" name="Freeform 12"/>
            <p:cNvSpPr/>
            <p:nvPr/>
          </p:nvSpPr>
          <p:spPr>
            <a:xfrm>
              <a:off x="0" y="0"/>
              <a:ext cx="4070374" cy="1167547"/>
            </a:xfrm>
            <a:custGeom>
              <a:avLst/>
              <a:gdLst/>
              <a:ahLst/>
              <a:cxnLst/>
              <a:rect l="l" t="t" r="r" b="b"/>
              <a:pathLst>
                <a:path w="4070374" h="1167547">
                  <a:moveTo>
                    <a:pt x="0" y="0"/>
                  </a:moveTo>
                  <a:lnTo>
                    <a:pt x="4070374" y="0"/>
                  </a:lnTo>
                  <a:lnTo>
                    <a:pt x="4070374" y="1167547"/>
                  </a:lnTo>
                  <a:lnTo>
                    <a:pt x="0" y="1167547"/>
                  </a:lnTo>
                  <a:close/>
                </a:path>
              </a:pathLst>
            </a:custGeom>
            <a:solidFill>
              <a:srgbClr val="111111"/>
            </a:solidFill>
            <a:ln w="19050" cap="sq">
              <a:solidFill>
                <a:srgbClr val="BDFF00"/>
              </a:solidFill>
              <a:prstDash val="solid"/>
              <a:miter/>
            </a:ln>
          </p:spPr>
        </p:sp>
        <p:sp>
          <p:nvSpPr>
            <p:cNvPr id="13" name="TextBox 13"/>
            <p:cNvSpPr txBox="1"/>
            <p:nvPr/>
          </p:nvSpPr>
          <p:spPr>
            <a:xfrm>
              <a:off x="0" y="-38100"/>
              <a:ext cx="4070374" cy="1205647"/>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1427494" y="4458674"/>
            <a:ext cx="7716506" cy="4433029"/>
            <a:chOff x="0" y="0"/>
            <a:chExt cx="728833" cy="418704"/>
          </a:xfrm>
        </p:grpSpPr>
        <p:sp>
          <p:nvSpPr>
            <p:cNvPr id="15" name="Freeform 15"/>
            <p:cNvSpPr/>
            <p:nvPr/>
          </p:nvSpPr>
          <p:spPr>
            <a:xfrm>
              <a:off x="0" y="0"/>
              <a:ext cx="728832" cy="418704"/>
            </a:xfrm>
            <a:custGeom>
              <a:avLst/>
              <a:gdLst/>
              <a:ahLst/>
              <a:cxnLst/>
              <a:rect l="l" t="t" r="r" b="b"/>
              <a:pathLst>
                <a:path w="728832" h="418704">
                  <a:moveTo>
                    <a:pt x="0" y="0"/>
                  </a:moveTo>
                  <a:lnTo>
                    <a:pt x="728832" y="0"/>
                  </a:lnTo>
                  <a:lnTo>
                    <a:pt x="728832" y="418704"/>
                  </a:lnTo>
                  <a:lnTo>
                    <a:pt x="0" y="418704"/>
                  </a:lnTo>
                  <a:close/>
                </a:path>
              </a:pathLst>
            </a:custGeom>
            <a:blipFill>
              <a:blip r:embed="rId2"/>
              <a:stretch>
                <a:fillRect l="-393" r="-393"/>
              </a:stretch>
            </a:blipFill>
            <a:ln w="19050" cap="sq">
              <a:solidFill>
                <a:srgbClr val="BDFF00"/>
              </a:solidFill>
              <a:prstDash val="solid"/>
              <a:miter/>
            </a:ln>
          </p:spPr>
        </p:sp>
      </p:grpSp>
      <p:grpSp>
        <p:nvGrpSpPr>
          <p:cNvPr id="16" name="Group 16"/>
          <p:cNvGrpSpPr/>
          <p:nvPr/>
        </p:nvGrpSpPr>
        <p:grpSpPr>
          <a:xfrm>
            <a:off x="9778492" y="5151799"/>
            <a:ext cx="4413577" cy="675364"/>
            <a:chOff x="0" y="0"/>
            <a:chExt cx="1162424" cy="177874"/>
          </a:xfrm>
        </p:grpSpPr>
        <p:sp>
          <p:nvSpPr>
            <p:cNvPr id="17" name="Freeform 17"/>
            <p:cNvSpPr/>
            <p:nvPr/>
          </p:nvSpPr>
          <p:spPr>
            <a:xfrm>
              <a:off x="0" y="0"/>
              <a:ext cx="1162424" cy="177874"/>
            </a:xfrm>
            <a:custGeom>
              <a:avLst/>
              <a:gdLst/>
              <a:ahLst/>
              <a:cxnLst/>
              <a:rect l="l" t="t" r="r" b="b"/>
              <a:pathLst>
                <a:path w="1162424" h="177874">
                  <a:moveTo>
                    <a:pt x="88937" y="0"/>
                  </a:moveTo>
                  <a:lnTo>
                    <a:pt x="1073487" y="0"/>
                  </a:lnTo>
                  <a:cubicBezTo>
                    <a:pt x="1097074" y="0"/>
                    <a:pt x="1119696" y="9370"/>
                    <a:pt x="1136375" y="26049"/>
                  </a:cubicBezTo>
                  <a:cubicBezTo>
                    <a:pt x="1153053" y="42728"/>
                    <a:pt x="1162424" y="65349"/>
                    <a:pt x="1162424" y="88937"/>
                  </a:cubicBezTo>
                  <a:lnTo>
                    <a:pt x="1162424" y="88937"/>
                  </a:lnTo>
                  <a:cubicBezTo>
                    <a:pt x="1162424" y="138055"/>
                    <a:pt x="1122605" y="177874"/>
                    <a:pt x="1073487"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8" name="TextBox 18"/>
            <p:cNvSpPr txBox="1"/>
            <p:nvPr/>
          </p:nvSpPr>
          <p:spPr>
            <a:xfrm>
              <a:off x="0" y="-38100"/>
              <a:ext cx="1162424"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Interactive Data Visualization</a:t>
              </a:r>
            </a:p>
          </p:txBody>
        </p:sp>
      </p:grpSp>
      <p:grpSp>
        <p:nvGrpSpPr>
          <p:cNvPr id="19" name="Group 19"/>
          <p:cNvGrpSpPr/>
          <p:nvPr/>
        </p:nvGrpSpPr>
        <p:grpSpPr>
          <a:xfrm>
            <a:off x="4767497" y="2648720"/>
            <a:ext cx="8753005" cy="1030696"/>
            <a:chOff x="0" y="0"/>
            <a:chExt cx="2305318" cy="271459"/>
          </a:xfrm>
        </p:grpSpPr>
        <p:sp>
          <p:nvSpPr>
            <p:cNvPr id="20" name="Freeform 20"/>
            <p:cNvSpPr/>
            <p:nvPr/>
          </p:nvSpPr>
          <p:spPr>
            <a:xfrm>
              <a:off x="0" y="0"/>
              <a:ext cx="2305318" cy="271459"/>
            </a:xfrm>
            <a:custGeom>
              <a:avLst/>
              <a:gdLst/>
              <a:ahLst/>
              <a:cxnLst/>
              <a:rect l="l" t="t" r="r" b="b"/>
              <a:pathLst>
                <a:path w="2305318" h="271459">
                  <a:moveTo>
                    <a:pt x="0" y="0"/>
                  </a:moveTo>
                  <a:lnTo>
                    <a:pt x="2305318" y="0"/>
                  </a:lnTo>
                  <a:lnTo>
                    <a:pt x="2305318" y="271459"/>
                  </a:lnTo>
                  <a:lnTo>
                    <a:pt x="0" y="271459"/>
                  </a:lnTo>
                  <a:close/>
                </a:path>
              </a:pathLst>
            </a:custGeom>
            <a:solidFill>
              <a:srgbClr val="BDFF00">
                <a:alpha val="22745"/>
              </a:srgbClr>
            </a:solidFill>
          </p:spPr>
        </p:sp>
        <p:sp>
          <p:nvSpPr>
            <p:cNvPr id="21" name="TextBox 21"/>
            <p:cNvSpPr txBox="1"/>
            <p:nvPr/>
          </p:nvSpPr>
          <p:spPr>
            <a:xfrm>
              <a:off x="0" y="-38100"/>
              <a:ext cx="2305318" cy="309559"/>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4374218" y="1811882"/>
            <a:ext cx="9539563" cy="1395416"/>
          </a:xfrm>
          <a:prstGeom prst="rect">
            <a:avLst/>
          </a:prstGeom>
        </p:spPr>
        <p:txBody>
          <a:bodyPr lIns="0" tIns="0" rIns="0" bIns="0" rtlCol="0" anchor="t">
            <a:spAutoFit/>
          </a:bodyPr>
          <a:lstStyle/>
          <a:p>
            <a:pPr marL="0" lvl="0" indent="0" algn="ctr">
              <a:lnSpc>
                <a:spcPts val="4812"/>
              </a:lnSpc>
            </a:pPr>
            <a:r>
              <a:rPr lang="en-US" sz="6416" b="1">
                <a:solidFill>
                  <a:srgbClr val="F4F4F4"/>
                </a:solidFill>
                <a:latin typeface="Telegraf Bold"/>
                <a:ea typeface="Telegraf Bold"/>
                <a:cs typeface="Telegraf Bold"/>
                <a:sym typeface="Telegraf Bold"/>
              </a:rPr>
              <a:t>POWER BI DASHBOARD OVERVIEW</a:t>
            </a:r>
          </a:p>
        </p:txBody>
      </p:sp>
      <p:grpSp>
        <p:nvGrpSpPr>
          <p:cNvPr id="23" name="Group 23"/>
          <p:cNvGrpSpPr/>
          <p:nvPr/>
        </p:nvGrpSpPr>
        <p:grpSpPr>
          <a:xfrm>
            <a:off x="17259300" y="1028700"/>
            <a:ext cx="1943433" cy="1894109"/>
            <a:chOff x="0" y="0"/>
            <a:chExt cx="511851" cy="498860"/>
          </a:xfrm>
        </p:grpSpPr>
        <p:sp>
          <p:nvSpPr>
            <p:cNvPr id="24" name="Freeform 24"/>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5" name="TextBox 25"/>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6" name="Group 26"/>
          <p:cNvGrpSpPr/>
          <p:nvPr/>
        </p:nvGrpSpPr>
        <p:grpSpPr>
          <a:xfrm>
            <a:off x="-914733" y="7393791"/>
            <a:ext cx="1943433" cy="1864509"/>
            <a:chOff x="0" y="0"/>
            <a:chExt cx="511851" cy="491064"/>
          </a:xfrm>
        </p:grpSpPr>
        <p:sp>
          <p:nvSpPr>
            <p:cNvPr id="27" name="Freeform 27"/>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8" name="TextBox 28"/>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sp>
        <p:nvSpPr>
          <p:cNvPr id="29" name="TextBox 29"/>
          <p:cNvSpPr txBox="1"/>
          <p:nvPr/>
        </p:nvSpPr>
        <p:spPr>
          <a:xfrm>
            <a:off x="9778492" y="6208487"/>
            <a:ext cx="6744879" cy="1990124"/>
          </a:xfrm>
          <a:prstGeom prst="rect">
            <a:avLst/>
          </a:prstGeom>
        </p:spPr>
        <p:txBody>
          <a:bodyPr lIns="0" tIns="0" rIns="0" bIns="0" rtlCol="0" anchor="t">
            <a:spAutoFit/>
          </a:bodyPr>
          <a:lstStyle/>
          <a:p>
            <a:pPr marL="0" lvl="0" indent="0" algn="just">
              <a:lnSpc>
                <a:spcPts val="2658"/>
              </a:lnSpc>
              <a:spcBef>
                <a:spcPct val="0"/>
              </a:spcBef>
            </a:pPr>
            <a:r>
              <a:rPr lang="en-US" sz="1898">
                <a:solidFill>
                  <a:srgbClr val="BDFF00"/>
                </a:solidFill>
                <a:latin typeface="Inter"/>
                <a:ea typeface="Inter"/>
                <a:cs typeface="Inter"/>
                <a:sym typeface="Inter"/>
              </a:rPr>
              <a:t>Visualized key metrics: total customers, average purchase amount, and average review rating. Created revenue breakdown by category and sales analysis by age group. Implemented subscription status distribution charts with dynamic slicers for gender, category, and shipping type filtering.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6057900" y="3288671"/>
            <a:ext cx="10537598" cy="5461821"/>
            <a:chOff x="0" y="0"/>
            <a:chExt cx="2775335" cy="1438504"/>
          </a:xfrm>
        </p:grpSpPr>
        <p:sp>
          <p:nvSpPr>
            <p:cNvPr id="12" name="Freeform 12"/>
            <p:cNvSpPr/>
            <p:nvPr/>
          </p:nvSpPr>
          <p:spPr>
            <a:xfrm>
              <a:off x="0" y="0"/>
              <a:ext cx="2775334" cy="1438504"/>
            </a:xfrm>
            <a:custGeom>
              <a:avLst/>
              <a:gdLst/>
              <a:ahLst/>
              <a:cxnLst/>
              <a:rect l="l" t="t" r="r" b="b"/>
              <a:pathLst>
                <a:path w="2775334" h="1438504">
                  <a:moveTo>
                    <a:pt x="0" y="0"/>
                  </a:moveTo>
                  <a:lnTo>
                    <a:pt x="2775334" y="0"/>
                  </a:lnTo>
                  <a:lnTo>
                    <a:pt x="2775334" y="1438504"/>
                  </a:lnTo>
                  <a:lnTo>
                    <a:pt x="0" y="1438504"/>
                  </a:lnTo>
                  <a:close/>
                </a:path>
              </a:pathLst>
            </a:custGeom>
            <a:ln w="19050" cap="sq">
              <a:solidFill>
                <a:srgbClr val="BDFF00"/>
              </a:solidFill>
              <a:prstDash val="solid"/>
              <a:miter/>
            </a:ln>
          </p:spPr>
        </p:sp>
        <p:sp>
          <p:nvSpPr>
            <p:cNvPr id="13" name="TextBox 13"/>
            <p:cNvSpPr txBox="1"/>
            <p:nvPr/>
          </p:nvSpPr>
          <p:spPr>
            <a:xfrm>
              <a:off x="0" y="-38100"/>
              <a:ext cx="2775335" cy="1476604"/>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8906920" y="5638028"/>
            <a:ext cx="4177823" cy="675364"/>
            <a:chOff x="0" y="0"/>
            <a:chExt cx="1100332" cy="177874"/>
          </a:xfrm>
        </p:grpSpPr>
        <p:sp>
          <p:nvSpPr>
            <p:cNvPr id="15" name="Freeform 15"/>
            <p:cNvSpPr/>
            <p:nvPr/>
          </p:nvSpPr>
          <p:spPr>
            <a:xfrm>
              <a:off x="0" y="0"/>
              <a:ext cx="1100332" cy="177874"/>
            </a:xfrm>
            <a:custGeom>
              <a:avLst/>
              <a:gdLst/>
              <a:ahLst/>
              <a:cxnLst/>
              <a:rect l="l" t="t" r="r" b="b"/>
              <a:pathLst>
                <a:path w="1100332" h="177874">
                  <a:moveTo>
                    <a:pt x="88937" y="0"/>
                  </a:moveTo>
                  <a:lnTo>
                    <a:pt x="1011395" y="0"/>
                  </a:lnTo>
                  <a:cubicBezTo>
                    <a:pt x="1034983" y="0"/>
                    <a:pt x="1057604" y="9370"/>
                    <a:pt x="1074283" y="26049"/>
                  </a:cubicBezTo>
                  <a:cubicBezTo>
                    <a:pt x="1090962" y="42728"/>
                    <a:pt x="1100332" y="65349"/>
                    <a:pt x="1100332" y="88937"/>
                  </a:cubicBezTo>
                  <a:lnTo>
                    <a:pt x="1100332" y="88937"/>
                  </a:lnTo>
                  <a:cubicBezTo>
                    <a:pt x="1100332" y="138055"/>
                    <a:pt x="1060513" y="177874"/>
                    <a:pt x="1011395"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6" name="TextBox 16"/>
            <p:cNvSpPr txBox="1"/>
            <p:nvPr/>
          </p:nvSpPr>
          <p:spPr>
            <a:xfrm>
              <a:off x="0" y="-38100"/>
              <a:ext cx="1100332"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Actionable Strategies</a:t>
              </a:r>
            </a:p>
          </p:txBody>
        </p:sp>
      </p:grpSp>
      <p:grpSp>
        <p:nvGrpSpPr>
          <p:cNvPr id="17" name="Group 17"/>
          <p:cNvGrpSpPr/>
          <p:nvPr/>
        </p:nvGrpSpPr>
        <p:grpSpPr>
          <a:xfrm>
            <a:off x="4098112" y="1653671"/>
            <a:ext cx="10091776" cy="1269138"/>
            <a:chOff x="0" y="0"/>
            <a:chExt cx="13455701" cy="1692184"/>
          </a:xfrm>
        </p:grpSpPr>
        <p:grpSp>
          <p:nvGrpSpPr>
            <p:cNvPr id="18" name="Group 18"/>
            <p:cNvGrpSpPr/>
            <p:nvPr/>
          </p:nvGrpSpPr>
          <p:grpSpPr>
            <a:xfrm>
              <a:off x="3853954" y="263597"/>
              <a:ext cx="9601747" cy="1428587"/>
              <a:chOff x="0" y="0"/>
              <a:chExt cx="1896641" cy="282190"/>
            </a:xfrm>
          </p:grpSpPr>
          <p:sp>
            <p:nvSpPr>
              <p:cNvPr id="19" name="Freeform 19"/>
              <p:cNvSpPr/>
              <p:nvPr/>
            </p:nvSpPr>
            <p:spPr>
              <a:xfrm>
                <a:off x="0" y="0"/>
                <a:ext cx="1896641" cy="282190"/>
              </a:xfrm>
              <a:custGeom>
                <a:avLst/>
                <a:gdLst/>
                <a:ahLst/>
                <a:cxnLst/>
                <a:rect l="l" t="t" r="r" b="b"/>
                <a:pathLst>
                  <a:path w="1896641" h="282190">
                    <a:moveTo>
                      <a:pt x="0" y="0"/>
                    </a:moveTo>
                    <a:lnTo>
                      <a:pt x="1896641" y="0"/>
                    </a:lnTo>
                    <a:lnTo>
                      <a:pt x="1896641" y="282190"/>
                    </a:lnTo>
                    <a:lnTo>
                      <a:pt x="0" y="282190"/>
                    </a:lnTo>
                    <a:close/>
                  </a:path>
                </a:pathLst>
              </a:custGeom>
              <a:solidFill>
                <a:srgbClr val="BDFF00">
                  <a:alpha val="22745"/>
                </a:srgbClr>
              </a:solidFill>
            </p:spPr>
          </p:sp>
          <p:sp>
            <p:nvSpPr>
              <p:cNvPr id="20" name="TextBox 20"/>
              <p:cNvSpPr txBox="1"/>
              <p:nvPr/>
            </p:nvSpPr>
            <p:spPr>
              <a:xfrm>
                <a:off x="0" y="-38100"/>
                <a:ext cx="1896641" cy="32029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0" y="171450"/>
              <a:ext cx="13330732" cy="1496019"/>
            </a:xfrm>
            <a:prstGeom prst="rect">
              <a:avLst/>
            </a:prstGeom>
          </p:spPr>
          <p:txBody>
            <a:bodyPr lIns="0" tIns="0" rIns="0" bIns="0" rtlCol="0" anchor="t">
              <a:spAutoFit/>
            </a:bodyPr>
            <a:lstStyle/>
            <a:p>
              <a:pPr marL="0" lvl="0" indent="0" algn="l">
                <a:lnSpc>
                  <a:spcPts val="3797"/>
                </a:lnSpc>
              </a:pPr>
              <a:r>
                <a:rPr lang="en-US" sz="5062" b="1">
                  <a:solidFill>
                    <a:srgbClr val="F4F4F4"/>
                  </a:solidFill>
                  <a:latin typeface="Telegraf Bold"/>
                  <a:ea typeface="Telegraf Bold"/>
                  <a:cs typeface="Telegraf Bold"/>
                  <a:sym typeface="Telegraf Bold"/>
                </a:rPr>
                <a:t>BUSINESS RECOMMENDATIONS</a:t>
              </a:r>
            </a:p>
          </p:txBody>
        </p:sp>
      </p:grpSp>
      <p:grpSp>
        <p:nvGrpSpPr>
          <p:cNvPr id="22" name="Group 22"/>
          <p:cNvGrpSpPr/>
          <p:nvPr/>
        </p:nvGrpSpPr>
        <p:grpSpPr>
          <a:xfrm>
            <a:off x="17259300" y="1028700"/>
            <a:ext cx="1943433" cy="1894109"/>
            <a:chOff x="0" y="0"/>
            <a:chExt cx="511851" cy="498860"/>
          </a:xfrm>
        </p:grpSpPr>
        <p:sp>
          <p:nvSpPr>
            <p:cNvPr id="23" name="Freeform 23"/>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4" name="TextBox 24"/>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914733" y="7393791"/>
            <a:ext cx="1943433" cy="1864509"/>
            <a:chOff x="0" y="0"/>
            <a:chExt cx="511851" cy="491064"/>
          </a:xfrm>
        </p:grpSpPr>
        <p:sp>
          <p:nvSpPr>
            <p:cNvPr id="26" name="Freeform 26"/>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7" name="TextBox 27"/>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8" name="Group 28"/>
          <p:cNvGrpSpPr/>
          <p:nvPr/>
        </p:nvGrpSpPr>
        <p:grpSpPr>
          <a:xfrm>
            <a:off x="1782443" y="3288840"/>
            <a:ext cx="6545469" cy="5429418"/>
            <a:chOff x="0" y="0"/>
            <a:chExt cx="618227" cy="512815"/>
          </a:xfrm>
        </p:grpSpPr>
        <p:sp>
          <p:nvSpPr>
            <p:cNvPr id="29" name="Freeform 29"/>
            <p:cNvSpPr/>
            <p:nvPr/>
          </p:nvSpPr>
          <p:spPr>
            <a:xfrm>
              <a:off x="0" y="0"/>
              <a:ext cx="618227" cy="512815"/>
            </a:xfrm>
            <a:custGeom>
              <a:avLst/>
              <a:gdLst/>
              <a:ahLst/>
              <a:cxnLst/>
              <a:rect l="l" t="t" r="r" b="b"/>
              <a:pathLst>
                <a:path w="618227" h="512815">
                  <a:moveTo>
                    <a:pt x="0" y="0"/>
                  </a:moveTo>
                  <a:lnTo>
                    <a:pt x="618227" y="0"/>
                  </a:lnTo>
                  <a:lnTo>
                    <a:pt x="618227" y="512815"/>
                  </a:lnTo>
                  <a:lnTo>
                    <a:pt x="0" y="512815"/>
                  </a:lnTo>
                  <a:close/>
                </a:path>
              </a:pathLst>
            </a:custGeom>
            <a:blipFill>
              <a:blip r:embed="rId2"/>
              <a:stretch>
                <a:fillRect l="-1282" r="-1282"/>
              </a:stretch>
            </a:blipFill>
            <a:ln w="19050" cap="sq">
              <a:solidFill>
                <a:srgbClr val="BDFF00"/>
              </a:solidFill>
              <a:prstDash val="solid"/>
              <a:miter/>
            </a:ln>
          </p:spPr>
        </p:sp>
      </p:grpSp>
      <p:sp>
        <p:nvSpPr>
          <p:cNvPr id="30" name="TextBox 30"/>
          <p:cNvSpPr txBox="1"/>
          <p:nvPr/>
        </p:nvSpPr>
        <p:spPr>
          <a:xfrm>
            <a:off x="8906920" y="6713766"/>
            <a:ext cx="7192866" cy="644102"/>
          </a:xfrm>
          <a:prstGeom prst="rect">
            <a:avLst/>
          </a:prstGeom>
        </p:spPr>
        <p:txBody>
          <a:bodyPr lIns="0" tIns="0" rIns="0" bIns="0" rtlCol="0" anchor="t">
            <a:spAutoFit/>
          </a:bodyPr>
          <a:lstStyle/>
          <a:p>
            <a:pPr marL="0" lvl="0" indent="0" algn="just">
              <a:lnSpc>
                <a:spcPts val="1773"/>
              </a:lnSpc>
              <a:spcBef>
                <a:spcPct val="0"/>
              </a:spcBef>
            </a:pPr>
            <a:r>
              <a:rPr lang="en-US" sz="1266">
                <a:solidFill>
                  <a:srgbClr val="BDFF00"/>
                </a:solidFill>
                <a:latin typeface="Inter"/>
                <a:ea typeface="Inter"/>
                <a:cs typeface="Inter"/>
                <a:sym typeface="Inter"/>
              </a:rPr>
              <a:t>These data-driven recommendations leverage insights from customer shopping behavior analysis to optimize revenue, improve retention, and maximize the effectiveness of marketing and discount strategies across all customer segments.</a:t>
            </a:r>
          </a:p>
        </p:txBody>
      </p:sp>
      <p:sp>
        <p:nvSpPr>
          <p:cNvPr id="31" name="AutoShape 31"/>
          <p:cNvSpPr/>
          <p:nvPr/>
        </p:nvSpPr>
        <p:spPr>
          <a:xfrm>
            <a:off x="8327912" y="5124450"/>
            <a:ext cx="8267586" cy="0"/>
          </a:xfrm>
          <a:prstGeom prst="line">
            <a:avLst/>
          </a:prstGeom>
          <a:ln w="19050" cap="flat">
            <a:solidFill>
              <a:srgbClr val="BDFF00"/>
            </a:solidFill>
            <a:prstDash val="solid"/>
            <a:headEnd type="none" w="sm" len="sm"/>
            <a:tailEnd type="none" w="sm" len="sm"/>
          </a:ln>
        </p:spPr>
      </p:sp>
      <p:grpSp>
        <p:nvGrpSpPr>
          <p:cNvPr id="32" name="Group 32"/>
          <p:cNvGrpSpPr/>
          <p:nvPr/>
        </p:nvGrpSpPr>
        <p:grpSpPr>
          <a:xfrm>
            <a:off x="10484570" y="3707402"/>
            <a:ext cx="203293" cy="193764"/>
            <a:chOff x="0" y="0"/>
            <a:chExt cx="812800" cy="774700"/>
          </a:xfrm>
        </p:grpSpPr>
        <p:sp>
          <p:nvSpPr>
            <p:cNvPr id="33" name="Freeform 3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4" name="TextBox 3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14189888" y="3707402"/>
            <a:ext cx="203293" cy="193764"/>
            <a:chOff x="0" y="0"/>
            <a:chExt cx="812800" cy="774700"/>
          </a:xfrm>
        </p:grpSpPr>
        <p:sp>
          <p:nvSpPr>
            <p:cNvPr id="36" name="Freeform 3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7" name="TextBox 3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38" name="AutoShape 38"/>
          <p:cNvSpPr/>
          <p:nvPr/>
        </p:nvSpPr>
        <p:spPr>
          <a:xfrm>
            <a:off x="11071599" y="4169227"/>
            <a:ext cx="2882125" cy="0"/>
          </a:xfrm>
          <a:prstGeom prst="line">
            <a:avLst/>
          </a:prstGeom>
          <a:ln w="9525" cap="rnd">
            <a:solidFill>
              <a:srgbClr val="FFFFFF"/>
            </a:solidFill>
            <a:prstDash val="solid"/>
            <a:headEnd type="none" w="sm" len="sm"/>
            <a:tailEnd type="none" w="sm" len="sm"/>
          </a:ln>
        </p:spPr>
      </p:sp>
      <p:sp>
        <p:nvSpPr>
          <p:cNvPr id="39" name="TextBox 39"/>
          <p:cNvSpPr txBox="1"/>
          <p:nvPr/>
        </p:nvSpPr>
        <p:spPr>
          <a:xfrm>
            <a:off x="10687863" y="3623444"/>
            <a:ext cx="3630980" cy="417195"/>
          </a:xfrm>
          <a:prstGeom prst="rect">
            <a:avLst/>
          </a:prstGeom>
        </p:spPr>
        <p:txBody>
          <a:bodyPr lIns="0" tIns="0" rIns="0" bIns="0" rtlCol="0" anchor="t">
            <a:spAutoFit/>
          </a:bodyPr>
          <a:lstStyle/>
          <a:p>
            <a:pPr marL="0" lvl="0" indent="0" algn="ctr">
              <a:lnSpc>
                <a:spcPts val="1679"/>
              </a:lnSpc>
              <a:spcBef>
                <a:spcPct val="0"/>
              </a:spcBef>
            </a:pPr>
            <a:r>
              <a:rPr lang="en-US" sz="1200">
                <a:solidFill>
                  <a:srgbClr val="F4F4F4"/>
                </a:solidFill>
                <a:latin typeface="Inter Light"/>
                <a:ea typeface="Inter Light"/>
                <a:cs typeface="Inter Light"/>
                <a:sym typeface="Inter Light"/>
              </a:rPr>
              <a:t>Enhance subscription programs with exclusive benefits</a:t>
            </a:r>
          </a:p>
        </p:txBody>
      </p:sp>
      <p:grpSp>
        <p:nvGrpSpPr>
          <p:cNvPr id="40" name="Group 40"/>
          <p:cNvGrpSpPr/>
          <p:nvPr/>
        </p:nvGrpSpPr>
        <p:grpSpPr>
          <a:xfrm>
            <a:off x="10350025" y="4299856"/>
            <a:ext cx="4306656" cy="310244"/>
            <a:chOff x="0" y="0"/>
            <a:chExt cx="5742208" cy="413659"/>
          </a:xfrm>
        </p:grpSpPr>
        <p:sp>
          <p:nvSpPr>
            <p:cNvPr id="41" name="AutoShape 41"/>
            <p:cNvSpPr/>
            <p:nvPr/>
          </p:nvSpPr>
          <p:spPr>
            <a:xfrm>
              <a:off x="452044" y="407309"/>
              <a:ext cx="4841307" cy="0"/>
            </a:xfrm>
            <a:prstGeom prst="line">
              <a:avLst/>
            </a:prstGeom>
            <a:ln w="12700" cap="rnd">
              <a:solidFill>
                <a:srgbClr val="FFFFFF"/>
              </a:solidFill>
              <a:prstDash val="solid"/>
              <a:headEnd type="none" w="sm" len="sm"/>
              <a:tailEnd type="none" w="sm" len="sm"/>
            </a:ln>
          </p:spPr>
        </p:sp>
        <p:grpSp>
          <p:nvGrpSpPr>
            <p:cNvPr id="42" name="Group 42"/>
            <p:cNvGrpSpPr/>
            <p:nvPr/>
          </p:nvGrpSpPr>
          <p:grpSpPr>
            <a:xfrm>
              <a:off x="0" y="49894"/>
              <a:ext cx="271057" cy="258351"/>
              <a:chOff x="0" y="0"/>
              <a:chExt cx="812800" cy="774700"/>
            </a:xfrm>
          </p:grpSpPr>
          <p:sp>
            <p:nvSpPr>
              <p:cNvPr id="43" name="Freeform 4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4" name="TextBox 44"/>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grpSp>
          <p:nvGrpSpPr>
            <p:cNvPr id="45" name="Group 45"/>
            <p:cNvGrpSpPr/>
            <p:nvPr/>
          </p:nvGrpSpPr>
          <p:grpSpPr>
            <a:xfrm>
              <a:off x="5471151" y="49894"/>
              <a:ext cx="271057" cy="258351"/>
              <a:chOff x="0" y="0"/>
              <a:chExt cx="812800" cy="774700"/>
            </a:xfrm>
          </p:grpSpPr>
          <p:sp>
            <p:nvSpPr>
              <p:cNvPr id="46" name="Freeform 4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7" name="TextBox 4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48" name="TextBox 48"/>
            <p:cNvSpPr txBox="1"/>
            <p:nvPr/>
          </p:nvSpPr>
          <p:spPr>
            <a:xfrm>
              <a:off x="452044" y="-28575"/>
              <a:ext cx="4841307" cy="26733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4F4F4"/>
                  </a:solidFill>
                  <a:latin typeface="Inter Light"/>
                  <a:ea typeface="Inter Light"/>
                  <a:cs typeface="Inter Light"/>
                  <a:sym typeface="Inter Light"/>
                </a:rPr>
                <a:t>Promote high-rated and best-selling products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7586586" y="1875448"/>
            <a:ext cx="9008276" cy="6659090"/>
            <a:chOff x="0" y="0"/>
            <a:chExt cx="12011035" cy="8878787"/>
          </a:xfrm>
        </p:grpSpPr>
        <p:grpSp>
          <p:nvGrpSpPr>
            <p:cNvPr id="12" name="Group 12"/>
            <p:cNvGrpSpPr/>
            <p:nvPr/>
          </p:nvGrpSpPr>
          <p:grpSpPr>
            <a:xfrm>
              <a:off x="347668" y="5114771"/>
              <a:ext cx="7896354" cy="900485"/>
              <a:chOff x="0" y="0"/>
              <a:chExt cx="1559774" cy="177874"/>
            </a:xfrm>
          </p:grpSpPr>
          <p:sp>
            <p:nvSpPr>
              <p:cNvPr id="13" name="Freeform 13"/>
              <p:cNvSpPr/>
              <p:nvPr/>
            </p:nvSpPr>
            <p:spPr>
              <a:xfrm>
                <a:off x="0" y="0"/>
                <a:ext cx="1559774" cy="177874"/>
              </a:xfrm>
              <a:custGeom>
                <a:avLst/>
                <a:gdLst/>
                <a:ahLst/>
                <a:cxnLst/>
                <a:rect l="l" t="t" r="r" b="b"/>
                <a:pathLst>
                  <a:path w="1559774" h="177874">
                    <a:moveTo>
                      <a:pt x="88937" y="0"/>
                    </a:moveTo>
                    <a:lnTo>
                      <a:pt x="1470837" y="0"/>
                    </a:lnTo>
                    <a:cubicBezTo>
                      <a:pt x="1519955" y="0"/>
                      <a:pt x="1559774" y="39818"/>
                      <a:pt x="1559774" y="88937"/>
                    </a:cubicBezTo>
                    <a:lnTo>
                      <a:pt x="1559774" y="88937"/>
                    </a:lnTo>
                    <a:cubicBezTo>
                      <a:pt x="1559774" y="138055"/>
                      <a:pt x="1519955" y="177874"/>
                      <a:pt x="1470837"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4" name="TextBox 14"/>
              <p:cNvSpPr txBox="1"/>
              <p:nvPr/>
            </p:nvSpPr>
            <p:spPr>
              <a:xfrm>
                <a:off x="0" y="-38100"/>
                <a:ext cx="1559774"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Project Impact &amp; Future Directions</a:t>
                </a:r>
              </a:p>
            </p:txBody>
          </p:sp>
        </p:grpSp>
        <p:grpSp>
          <p:nvGrpSpPr>
            <p:cNvPr id="15" name="Group 15"/>
            <p:cNvGrpSpPr/>
            <p:nvPr/>
          </p:nvGrpSpPr>
          <p:grpSpPr>
            <a:xfrm>
              <a:off x="0" y="1331156"/>
              <a:ext cx="11807835" cy="1417367"/>
              <a:chOff x="0" y="0"/>
              <a:chExt cx="2332412" cy="279974"/>
            </a:xfrm>
          </p:grpSpPr>
          <p:sp>
            <p:nvSpPr>
              <p:cNvPr id="16" name="Freeform 16"/>
              <p:cNvSpPr/>
              <p:nvPr/>
            </p:nvSpPr>
            <p:spPr>
              <a:xfrm>
                <a:off x="0" y="0"/>
                <a:ext cx="2332412" cy="279974"/>
              </a:xfrm>
              <a:custGeom>
                <a:avLst/>
                <a:gdLst/>
                <a:ahLst/>
                <a:cxnLst/>
                <a:rect l="l" t="t" r="r" b="b"/>
                <a:pathLst>
                  <a:path w="2332412" h="279974">
                    <a:moveTo>
                      <a:pt x="0" y="0"/>
                    </a:moveTo>
                    <a:lnTo>
                      <a:pt x="2332412" y="0"/>
                    </a:lnTo>
                    <a:lnTo>
                      <a:pt x="2332412" y="279974"/>
                    </a:lnTo>
                    <a:lnTo>
                      <a:pt x="0" y="279974"/>
                    </a:lnTo>
                    <a:close/>
                  </a:path>
                </a:pathLst>
              </a:custGeom>
              <a:solidFill>
                <a:srgbClr val="BDFF00">
                  <a:alpha val="22745"/>
                </a:srgbClr>
              </a:solidFill>
            </p:spPr>
          </p:sp>
          <p:sp>
            <p:nvSpPr>
              <p:cNvPr id="17" name="TextBox 17"/>
              <p:cNvSpPr txBox="1"/>
              <p:nvPr/>
            </p:nvSpPr>
            <p:spPr>
              <a:xfrm>
                <a:off x="0" y="-38100"/>
                <a:ext cx="2332412" cy="318074"/>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303604" y="266700"/>
              <a:ext cx="11707431" cy="2481376"/>
            </a:xfrm>
            <a:prstGeom prst="rect">
              <a:avLst/>
            </a:prstGeom>
          </p:spPr>
          <p:txBody>
            <a:bodyPr lIns="0" tIns="0" rIns="0" bIns="0" rtlCol="0" anchor="t">
              <a:spAutoFit/>
            </a:bodyPr>
            <a:lstStyle/>
            <a:p>
              <a:pPr marL="0" lvl="0" indent="0" algn="l">
                <a:lnSpc>
                  <a:spcPts val="6253"/>
                </a:lnSpc>
              </a:pPr>
              <a:r>
                <a:rPr lang="en-US" sz="8338" b="1">
                  <a:solidFill>
                    <a:srgbClr val="F4F4F4"/>
                  </a:solidFill>
                  <a:latin typeface="Telegraf Bold"/>
                  <a:ea typeface="Telegraf Bold"/>
                  <a:cs typeface="Telegraf Bold"/>
                  <a:sym typeface="Telegraf Bold"/>
                </a:rPr>
                <a:t>CONCLUSION &amp;</a:t>
              </a:r>
            </a:p>
            <a:p>
              <a:pPr marL="0" lvl="0" indent="0" algn="l">
                <a:lnSpc>
                  <a:spcPts val="6253"/>
                </a:lnSpc>
              </a:pPr>
              <a:r>
                <a:rPr lang="en-US" sz="8338" b="1">
                  <a:solidFill>
                    <a:srgbClr val="F4F4F4"/>
                  </a:solidFill>
                  <a:latin typeface="Telegraf Bold"/>
                  <a:ea typeface="Telegraf Bold"/>
                  <a:cs typeface="Telegraf Bold"/>
                  <a:sym typeface="Telegraf Bold"/>
                </a:rPr>
                <a:t>NEXT STEPS</a:t>
              </a:r>
            </a:p>
          </p:txBody>
        </p:sp>
        <p:sp>
          <p:nvSpPr>
            <p:cNvPr id="19" name="TextBox 19"/>
            <p:cNvSpPr txBox="1"/>
            <p:nvPr/>
          </p:nvSpPr>
          <p:spPr>
            <a:xfrm>
              <a:off x="347668" y="6545914"/>
              <a:ext cx="9935331" cy="2332873"/>
            </a:xfrm>
            <a:prstGeom prst="rect">
              <a:avLst/>
            </a:prstGeom>
          </p:spPr>
          <p:txBody>
            <a:bodyPr lIns="0" tIns="0" rIns="0" bIns="0" rtlCol="0" anchor="t">
              <a:spAutoFit/>
            </a:bodyPr>
            <a:lstStyle/>
            <a:p>
              <a:pPr marL="0" lvl="0" indent="0" algn="just">
                <a:lnSpc>
                  <a:spcPts val="2393"/>
                </a:lnSpc>
                <a:spcBef>
                  <a:spcPct val="0"/>
                </a:spcBef>
              </a:pPr>
              <a:r>
                <a:rPr lang="en-US" sz="1709">
                  <a:solidFill>
                    <a:srgbClr val="BDFF00"/>
                  </a:solidFill>
                  <a:latin typeface="Inter"/>
                  <a:ea typeface="Inter"/>
                  <a:cs typeface="Inter"/>
                  <a:sym typeface="Inter"/>
                </a:rPr>
                <a:t>• Demonstrated end-to-end data analysis using Python, SQL, and Power BI</a:t>
              </a:r>
            </a:p>
            <a:p>
              <a:pPr marL="0" lvl="0" indent="0" algn="just">
                <a:lnSpc>
                  <a:spcPts val="2393"/>
                </a:lnSpc>
                <a:spcBef>
                  <a:spcPct val="0"/>
                </a:spcBef>
              </a:pPr>
              <a:r>
                <a:rPr lang="en-US" sz="1709">
                  <a:solidFill>
                    <a:srgbClr val="BDFF00"/>
                  </a:solidFill>
                  <a:latin typeface="Inter"/>
                  <a:ea typeface="Inter"/>
                  <a:cs typeface="Inter"/>
                  <a:sym typeface="Inter"/>
                </a:rPr>
                <a:t>• Delivered valuable insights into customer behavior and revenue patterns</a:t>
              </a:r>
            </a:p>
            <a:p>
              <a:pPr marL="0" lvl="0" indent="0" algn="just">
                <a:lnSpc>
                  <a:spcPts val="2393"/>
                </a:lnSpc>
                <a:spcBef>
                  <a:spcPct val="0"/>
                </a:spcBef>
              </a:pPr>
              <a:r>
                <a:rPr lang="en-US" sz="1709">
                  <a:solidFill>
                    <a:srgbClr val="BDFF00"/>
                  </a:solidFill>
                  <a:latin typeface="Inter"/>
                  <a:ea typeface="Inter"/>
                  <a:cs typeface="Inter"/>
                  <a:sym typeface="Inter"/>
                </a:rPr>
                <a:t>• Identified strategic opportunities for business growth</a:t>
              </a:r>
            </a:p>
            <a:p>
              <a:pPr marL="0" lvl="0" indent="0" algn="just">
                <a:lnSpc>
                  <a:spcPts val="2393"/>
                </a:lnSpc>
                <a:spcBef>
                  <a:spcPct val="0"/>
                </a:spcBef>
              </a:pPr>
              <a:r>
                <a:rPr lang="en-US" sz="1709">
                  <a:solidFill>
                    <a:srgbClr val="BDFF00"/>
                  </a:solidFill>
                  <a:latin typeface="Inter"/>
                  <a:ea typeface="Inter"/>
                  <a:cs typeface="Inter"/>
                  <a:sym typeface="Inter"/>
                </a:rPr>
                <a:t>• Next steps: Implement recommendations, refine dashboard, monitor KPIs</a:t>
              </a:r>
            </a:p>
          </p:txBody>
        </p:sp>
      </p:grpSp>
      <p:grpSp>
        <p:nvGrpSpPr>
          <p:cNvPr id="20" name="Group 20"/>
          <p:cNvGrpSpPr/>
          <p:nvPr/>
        </p:nvGrpSpPr>
        <p:grpSpPr>
          <a:xfrm>
            <a:off x="17259300" y="1028700"/>
            <a:ext cx="1943433" cy="1894109"/>
            <a:chOff x="0" y="0"/>
            <a:chExt cx="511851" cy="498860"/>
          </a:xfrm>
        </p:grpSpPr>
        <p:sp>
          <p:nvSpPr>
            <p:cNvPr id="21" name="Freeform 21"/>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2" name="TextBox 22"/>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23" name="Group 23"/>
          <p:cNvGrpSpPr/>
          <p:nvPr/>
        </p:nvGrpSpPr>
        <p:grpSpPr>
          <a:xfrm>
            <a:off x="-914733" y="7393791"/>
            <a:ext cx="1943433" cy="1864509"/>
            <a:chOff x="0" y="0"/>
            <a:chExt cx="511851" cy="491064"/>
          </a:xfrm>
        </p:grpSpPr>
        <p:sp>
          <p:nvSpPr>
            <p:cNvPr id="24" name="Freeform 24"/>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25" name="TextBox 25"/>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26" name="Group 26"/>
          <p:cNvGrpSpPr/>
          <p:nvPr/>
        </p:nvGrpSpPr>
        <p:grpSpPr>
          <a:xfrm>
            <a:off x="1028700" y="1042078"/>
            <a:ext cx="5893448" cy="8216222"/>
            <a:chOff x="0" y="0"/>
            <a:chExt cx="556643" cy="776031"/>
          </a:xfrm>
        </p:grpSpPr>
        <p:sp>
          <p:nvSpPr>
            <p:cNvPr id="27" name="Freeform 27"/>
            <p:cNvSpPr/>
            <p:nvPr/>
          </p:nvSpPr>
          <p:spPr>
            <a:xfrm>
              <a:off x="0" y="0"/>
              <a:ext cx="556643" cy="776031"/>
            </a:xfrm>
            <a:custGeom>
              <a:avLst/>
              <a:gdLst/>
              <a:ahLst/>
              <a:cxnLst/>
              <a:rect l="l" t="t" r="r" b="b"/>
              <a:pathLst>
                <a:path w="556643" h="776031">
                  <a:moveTo>
                    <a:pt x="0" y="0"/>
                  </a:moveTo>
                  <a:lnTo>
                    <a:pt x="556643" y="0"/>
                  </a:lnTo>
                  <a:lnTo>
                    <a:pt x="556643" y="776031"/>
                  </a:lnTo>
                  <a:lnTo>
                    <a:pt x="0" y="776031"/>
                  </a:lnTo>
                  <a:close/>
                </a:path>
              </a:pathLst>
            </a:custGeom>
            <a:blipFill>
              <a:blip r:embed="rId2"/>
              <a:stretch>
                <a:fillRect l="-2018" r="-2018"/>
              </a:stretch>
            </a:blipFill>
            <a:ln w="19050" cap="sq">
              <a:solidFill>
                <a:srgbClr val="BDFF00"/>
              </a:solidFill>
              <a:prstDash val="solid"/>
              <a:miter/>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42078"/>
            <a:ext cx="17202317" cy="9191900"/>
            <a:chOff x="0" y="0"/>
            <a:chExt cx="4530651" cy="2420912"/>
          </a:xfrm>
        </p:grpSpPr>
        <p:sp>
          <p:nvSpPr>
            <p:cNvPr id="3" name="Freeform 3"/>
            <p:cNvSpPr/>
            <p:nvPr/>
          </p:nvSpPr>
          <p:spPr>
            <a:xfrm>
              <a:off x="0" y="0"/>
              <a:ext cx="4530651" cy="2420912"/>
            </a:xfrm>
            <a:custGeom>
              <a:avLst/>
              <a:gdLst/>
              <a:ahLst/>
              <a:cxnLst/>
              <a:rect l="l" t="t" r="r" b="b"/>
              <a:pathLst>
                <a:path w="4530651" h="2420912">
                  <a:moveTo>
                    <a:pt x="0" y="0"/>
                  </a:moveTo>
                  <a:lnTo>
                    <a:pt x="4530651" y="0"/>
                  </a:lnTo>
                  <a:lnTo>
                    <a:pt x="4530651" y="2420912"/>
                  </a:lnTo>
                  <a:lnTo>
                    <a:pt x="0" y="2420912"/>
                  </a:lnTo>
                  <a:close/>
                </a:path>
              </a:pathLst>
            </a:custGeom>
            <a:solidFill>
              <a:srgbClr val="BDFF00">
                <a:alpha val="9804"/>
              </a:srgbClr>
            </a:solidFill>
          </p:spPr>
        </p:sp>
        <p:sp>
          <p:nvSpPr>
            <p:cNvPr id="4" name="TextBox 4"/>
            <p:cNvSpPr txBox="1"/>
            <p:nvPr/>
          </p:nvSpPr>
          <p:spPr>
            <a:xfrm>
              <a:off x="0" y="-38100"/>
              <a:ext cx="4530651" cy="2459012"/>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2057400"/>
            <a:ext cx="17259300" cy="9418956"/>
            <a:chOff x="0" y="0"/>
            <a:chExt cx="4545659" cy="2480713"/>
          </a:xfrm>
        </p:grpSpPr>
        <p:sp>
          <p:nvSpPr>
            <p:cNvPr id="6" name="Freeform 6"/>
            <p:cNvSpPr/>
            <p:nvPr/>
          </p:nvSpPr>
          <p:spPr>
            <a:xfrm>
              <a:off x="0" y="0"/>
              <a:ext cx="4545659" cy="2480713"/>
            </a:xfrm>
            <a:custGeom>
              <a:avLst/>
              <a:gdLst/>
              <a:ahLst/>
              <a:cxnLst/>
              <a:rect l="l" t="t" r="r" b="b"/>
              <a:pathLst>
                <a:path w="4545659" h="2480713">
                  <a:moveTo>
                    <a:pt x="0" y="0"/>
                  </a:moveTo>
                  <a:lnTo>
                    <a:pt x="4545659" y="0"/>
                  </a:lnTo>
                  <a:lnTo>
                    <a:pt x="4545659" y="2480713"/>
                  </a:lnTo>
                  <a:lnTo>
                    <a:pt x="0" y="2480713"/>
                  </a:lnTo>
                  <a:close/>
                </a:path>
              </a:pathLst>
            </a:custGeom>
            <a:solidFill>
              <a:srgbClr val="BDFF00">
                <a:alpha val="9804"/>
              </a:srgbClr>
            </a:solidFill>
          </p:spPr>
        </p:sp>
        <p:sp>
          <p:nvSpPr>
            <p:cNvPr id="7" name="TextBox 7"/>
            <p:cNvSpPr txBox="1"/>
            <p:nvPr/>
          </p:nvSpPr>
          <p:spPr>
            <a:xfrm>
              <a:off x="0" y="-38100"/>
              <a:ext cx="4545659" cy="251881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111111"/>
            </a:solidFill>
            <a:ln w="19050" cap="sq">
              <a:solidFill>
                <a:srgbClr val="BDFF00"/>
              </a:solidFill>
              <a:prstDash val="solid"/>
              <a:miter/>
            </a:ln>
          </p:spPr>
        </p:sp>
        <p:sp>
          <p:nvSpPr>
            <p:cNvPr id="10" name="TextBox 10"/>
            <p:cNvSpPr txBox="1"/>
            <p:nvPr/>
          </p:nvSpPr>
          <p:spPr>
            <a:xfrm>
              <a:off x="0" y="-38100"/>
              <a:ext cx="4274726" cy="2205567"/>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5754753" y="6686192"/>
            <a:ext cx="3496981" cy="675364"/>
            <a:chOff x="0" y="0"/>
            <a:chExt cx="921016" cy="177874"/>
          </a:xfrm>
        </p:grpSpPr>
        <p:sp>
          <p:nvSpPr>
            <p:cNvPr id="12" name="Freeform 12"/>
            <p:cNvSpPr/>
            <p:nvPr/>
          </p:nvSpPr>
          <p:spPr>
            <a:xfrm>
              <a:off x="0" y="0"/>
              <a:ext cx="921015" cy="177874"/>
            </a:xfrm>
            <a:custGeom>
              <a:avLst/>
              <a:gdLst/>
              <a:ahLst/>
              <a:cxnLst/>
              <a:rect l="l" t="t" r="r" b="b"/>
              <a:pathLst>
                <a:path w="921015" h="177874">
                  <a:moveTo>
                    <a:pt x="88937" y="0"/>
                  </a:moveTo>
                  <a:lnTo>
                    <a:pt x="832079" y="0"/>
                  </a:lnTo>
                  <a:cubicBezTo>
                    <a:pt x="881197" y="0"/>
                    <a:pt x="921015" y="39818"/>
                    <a:pt x="921015" y="88937"/>
                  </a:cubicBezTo>
                  <a:lnTo>
                    <a:pt x="921015" y="88937"/>
                  </a:lnTo>
                  <a:cubicBezTo>
                    <a:pt x="921015" y="138055"/>
                    <a:pt x="881197" y="177874"/>
                    <a:pt x="832079"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3" name="TextBox 13"/>
            <p:cNvSpPr txBox="1"/>
            <p:nvPr/>
          </p:nvSpPr>
          <p:spPr>
            <a:xfrm>
              <a:off x="0" y="-38100"/>
              <a:ext cx="921016"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Questions Welcome</a:t>
              </a:r>
            </a:p>
          </p:txBody>
        </p:sp>
      </p:grpSp>
      <p:grpSp>
        <p:nvGrpSpPr>
          <p:cNvPr id="14" name="Group 14"/>
          <p:cNvGrpSpPr/>
          <p:nvPr/>
        </p:nvGrpSpPr>
        <p:grpSpPr>
          <a:xfrm>
            <a:off x="1430069" y="6686192"/>
            <a:ext cx="3599790" cy="675364"/>
            <a:chOff x="0" y="0"/>
            <a:chExt cx="948093" cy="177874"/>
          </a:xfrm>
        </p:grpSpPr>
        <p:sp>
          <p:nvSpPr>
            <p:cNvPr id="15" name="Freeform 15"/>
            <p:cNvSpPr/>
            <p:nvPr/>
          </p:nvSpPr>
          <p:spPr>
            <a:xfrm>
              <a:off x="0" y="0"/>
              <a:ext cx="948093" cy="177874"/>
            </a:xfrm>
            <a:custGeom>
              <a:avLst/>
              <a:gdLst/>
              <a:ahLst/>
              <a:cxnLst/>
              <a:rect l="l" t="t" r="r" b="b"/>
              <a:pathLst>
                <a:path w="948093" h="177874">
                  <a:moveTo>
                    <a:pt x="88937" y="0"/>
                  </a:moveTo>
                  <a:lnTo>
                    <a:pt x="859156" y="0"/>
                  </a:lnTo>
                  <a:cubicBezTo>
                    <a:pt x="908275" y="0"/>
                    <a:pt x="948093" y="39818"/>
                    <a:pt x="948093" y="88937"/>
                  </a:cubicBezTo>
                  <a:lnTo>
                    <a:pt x="948093" y="88937"/>
                  </a:lnTo>
                  <a:cubicBezTo>
                    <a:pt x="948093" y="138055"/>
                    <a:pt x="908275" y="177874"/>
                    <a:pt x="859156" y="177874"/>
                  </a:cubicBezTo>
                  <a:lnTo>
                    <a:pt x="88937" y="177874"/>
                  </a:lnTo>
                  <a:cubicBezTo>
                    <a:pt x="39818" y="177874"/>
                    <a:pt x="0" y="138055"/>
                    <a:pt x="0" y="88937"/>
                  </a:cubicBezTo>
                  <a:lnTo>
                    <a:pt x="0" y="88937"/>
                  </a:lnTo>
                  <a:cubicBezTo>
                    <a:pt x="0" y="39818"/>
                    <a:pt x="39818" y="0"/>
                    <a:pt x="88937" y="0"/>
                  </a:cubicBezTo>
                  <a:close/>
                </a:path>
              </a:pathLst>
            </a:custGeom>
            <a:solidFill>
              <a:srgbClr val="BDFF00"/>
            </a:solidFill>
          </p:spPr>
        </p:sp>
        <p:sp>
          <p:nvSpPr>
            <p:cNvPr id="16" name="TextBox 16"/>
            <p:cNvSpPr txBox="1"/>
            <p:nvPr/>
          </p:nvSpPr>
          <p:spPr>
            <a:xfrm>
              <a:off x="0" y="-38100"/>
              <a:ext cx="948093" cy="215974"/>
            </a:xfrm>
            <a:prstGeom prst="rect">
              <a:avLst/>
            </a:prstGeom>
          </p:spPr>
          <p:txBody>
            <a:bodyPr lIns="50800" tIns="50800" rIns="50800" bIns="50800" rtlCol="0" anchor="ctr"/>
            <a:lstStyle/>
            <a:p>
              <a:pPr marL="0" lvl="0" indent="0" algn="ctr">
                <a:lnSpc>
                  <a:spcPts val="2939"/>
                </a:lnSpc>
              </a:pPr>
              <a:r>
                <a:rPr lang="en-US" sz="2099" b="1">
                  <a:solidFill>
                    <a:srgbClr val="000000"/>
                  </a:solidFill>
                  <a:latin typeface="Inter Semi-Bold"/>
                  <a:ea typeface="Inter Semi-Bold"/>
                  <a:cs typeface="Inter Semi-Bold"/>
                  <a:sym typeface="Inter Semi-Bold"/>
                </a:rPr>
                <a:t>Customer Behavior Team</a:t>
              </a:r>
            </a:p>
          </p:txBody>
        </p:sp>
      </p:grpSp>
      <p:grpSp>
        <p:nvGrpSpPr>
          <p:cNvPr id="17" name="Group 17"/>
          <p:cNvGrpSpPr/>
          <p:nvPr/>
        </p:nvGrpSpPr>
        <p:grpSpPr>
          <a:xfrm>
            <a:off x="5441633" y="7650681"/>
            <a:ext cx="3810102" cy="675364"/>
            <a:chOff x="0" y="0"/>
            <a:chExt cx="1003484" cy="177874"/>
          </a:xfrm>
        </p:grpSpPr>
        <p:sp>
          <p:nvSpPr>
            <p:cNvPr id="18" name="Freeform 18"/>
            <p:cNvSpPr/>
            <p:nvPr/>
          </p:nvSpPr>
          <p:spPr>
            <a:xfrm>
              <a:off x="0" y="0"/>
              <a:ext cx="1003484" cy="177874"/>
            </a:xfrm>
            <a:custGeom>
              <a:avLst/>
              <a:gdLst/>
              <a:ahLst/>
              <a:cxnLst/>
              <a:rect l="l" t="t" r="r" b="b"/>
              <a:pathLst>
                <a:path w="1003484" h="177874">
                  <a:moveTo>
                    <a:pt x="88937" y="0"/>
                  </a:moveTo>
                  <a:lnTo>
                    <a:pt x="914547" y="0"/>
                  </a:lnTo>
                  <a:cubicBezTo>
                    <a:pt x="963665" y="0"/>
                    <a:pt x="1003484" y="39818"/>
                    <a:pt x="1003484" y="88937"/>
                  </a:cubicBezTo>
                  <a:lnTo>
                    <a:pt x="1003484" y="88937"/>
                  </a:lnTo>
                  <a:cubicBezTo>
                    <a:pt x="1003484" y="138055"/>
                    <a:pt x="963665" y="177874"/>
                    <a:pt x="914547" y="177874"/>
                  </a:cubicBezTo>
                  <a:lnTo>
                    <a:pt x="88937" y="177874"/>
                  </a:lnTo>
                  <a:cubicBezTo>
                    <a:pt x="39818" y="177874"/>
                    <a:pt x="0" y="138055"/>
                    <a:pt x="0" y="88937"/>
                  </a:cubicBezTo>
                  <a:lnTo>
                    <a:pt x="0" y="88937"/>
                  </a:lnTo>
                  <a:cubicBezTo>
                    <a:pt x="0" y="39818"/>
                    <a:pt x="39818" y="0"/>
                    <a:pt x="88937" y="0"/>
                  </a:cubicBezTo>
                  <a:close/>
                </a:path>
              </a:pathLst>
            </a:custGeom>
            <a:ln w="19050" cap="rnd">
              <a:solidFill>
                <a:srgbClr val="BDFF00"/>
              </a:solidFill>
              <a:prstDash val="solid"/>
              <a:round/>
            </a:ln>
          </p:spPr>
        </p:sp>
        <p:sp>
          <p:nvSpPr>
            <p:cNvPr id="19" name="TextBox 19"/>
            <p:cNvSpPr txBox="1"/>
            <p:nvPr/>
          </p:nvSpPr>
          <p:spPr>
            <a:xfrm>
              <a:off x="0" y="-38100"/>
              <a:ext cx="1003484" cy="215974"/>
            </a:xfrm>
            <a:prstGeom prst="rect">
              <a:avLst/>
            </a:prstGeom>
          </p:spPr>
          <p:txBody>
            <a:bodyPr lIns="50800" tIns="50800" rIns="50800" bIns="50800" rtlCol="0" anchor="ctr"/>
            <a:lstStyle/>
            <a:p>
              <a:pPr marL="0" lvl="0" indent="0" algn="ctr">
                <a:lnSpc>
                  <a:spcPts val="2939"/>
                </a:lnSpc>
              </a:pPr>
              <a:r>
                <a:rPr lang="en-US" sz="2099" b="1">
                  <a:solidFill>
                    <a:srgbClr val="BDFF00"/>
                  </a:solidFill>
                  <a:latin typeface="Inter Semi-Bold"/>
                  <a:ea typeface="Inter Semi-Bold"/>
                  <a:cs typeface="Inter Semi-Bold"/>
                  <a:sym typeface="Inter Semi-Bold"/>
                </a:rPr>
                <a:t>analytics@company.com</a:t>
              </a:r>
            </a:p>
          </p:txBody>
        </p:sp>
      </p:grpSp>
      <p:grpSp>
        <p:nvGrpSpPr>
          <p:cNvPr id="20" name="Group 20"/>
          <p:cNvGrpSpPr/>
          <p:nvPr/>
        </p:nvGrpSpPr>
        <p:grpSpPr>
          <a:xfrm>
            <a:off x="1430069" y="7689139"/>
            <a:ext cx="2663133" cy="675364"/>
            <a:chOff x="0" y="0"/>
            <a:chExt cx="701401" cy="177874"/>
          </a:xfrm>
        </p:grpSpPr>
        <p:sp>
          <p:nvSpPr>
            <p:cNvPr id="21" name="Freeform 21"/>
            <p:cNvSpPr/>
            <p:nvPr/>
          </p:nvSpPr>
          <p:spPr>
            <a:xfrm>
              <a:off x="0" y="0"/>
              <a:ext cx="701401" cy="177874"/>
            </a:xfrm>
            <a:custGeom>
              <a:avLst/>
              <a:gdLst/>
              <a:ahLst/>
              <a:cxnLst/>
              <a:rect l="l" t="t" r="r" b="b"/>
              <a:pathLst>
                <a:path w="701401" h="177874">
                  <a:moveTo>
                    <a:pt x="88937" y="0"/>
                  </a:moveTo>
                  <a:lnTo>
                    <a:pt x="612465" y="0"/>
                  </a:lnTo>
                  <a:cubicBezTo>
                    <a:pt x="636052" y="0"/>
                    <a:pt x="658673" y="9370"/>
                    <a:pt x="675352" y="26049"/>
                  </a:cubicBezTo>
                  <a:cubicBezTo>
                    <a:pt x="692031" y="42728"/>
                    <a:pt x="701401" y="65349"/>
                    <a:pt x="701401" y="88937"/>
                  </a:cubicBezTo>
                  <a:lnTo>
                    <a:pt x="701401" y="88937"/>
                  </a:lnTo>
                  <a:cubicBezTo>
                    <a:pt x="701401" y="138055"/>
                    <a:pt x="661583" y="177874"/>
                    <a:pt x="612465" y="177874"/>
                  </a:cubicBezTo>
                  <a:lnTo>
                    <a:pt x="88937" y="177874"/>
                  </a:lnTo>
                  <a:cubicBezTo>
                    <a:pt x="39818" y="177874"/>
                    <a:pt x="0" y="138055"/>
                    <a:pt x="0" y="88937"/>
                  </a:cubicBezTo>
                  <a:lnTo>
                    <a:pt x="0" y="88937"/>
                  </a:lnTo>
                  <a:cubicBezTo>
                    <a:pt x="0" y="39818"/>
                    <a:pt x="39818" y="0"/>
                    <a:pt x="88937" y="0"/>
                  </a:cubicBezTo>
                  <a:close/>
                </a:path>
              </a:pathLst>
            </a:custGeom>
            <a:ln w="19050" cap="rnd">
              <a:solidFill>
                <a:srgbClr val="BDFF00"/>
              </a:solidFill>
              <a:prstDash val="solid"/>
              <a:round/>
            </a:ln>
          </p:spPr>
        </p:sp>
        <p:sp>
          <p:nvSpPr>
            <p:cNvPr id="22" name="TextBox 22"/>
            <p:cNvSpPr txBox="1"/>
            <p:nvPr/>
          </p:nvSpPr>
          <p:spPr>
            <a:xfrm>
              <a:off x="0" y="-38100"/>
              <a:ext cx="701401" cy="215974"/>
            </a:xfrm>
            <a:prstGeom prst="rect">
              <a:avLst/>
            </a:prstGeom>
          </p:spPr>
          <p:txBody>
            <a:bodyPr lIns="50800" tIns="50800" rIns="50800" bIns="50800" rtlCol="0" anchor="ctr"/>
            <a:lstStyle/>
            <a:p>
              <a:pPr marL="0" lvl="0" indent="0" algn="ctr">
                <a:lnSpc>
                  <a:spcPts val="2939"/>
                </a:lnSpc>
              </a:pPr>
              <a:r>
                <a:rPr lang="en-US" sz="2099" b="1">
                  <a:solidFill>
                    <a:srgbClr val="BDFF00"/>
                  </a:solidFill>
                  <a:latin typeface="Inter Semi-Bold"/>
                  <a:ea typeface="Inter Semi-Bold"/>
                  <a:cs typeface="Inter Semi-Bold"/>
                  <a:sym typeface="Inter Semi-Bold"/>
                </a:rPr>
                <a:t>Data Analytics</a:t>
              </a:r>
            </a:p>
          </p:txBody>
        </p:sp>
      </p:grpSp>
      <p:grpSp>
        <p:nvGrpSpPr>
          <p:cNvPr id="23" name="Group 23"/>
          <p:cNvGrpSpPr/>
          <p:nvPr/>
        </p:nvGrpSpPr>
        <p:grpSpPr>
          <a:xfrm>
            <a:off x="1357772" y="2556828"/>
            <a:ext cx="6855037" cy="1128989"/>
            <a:chOff x="0" y="0"/>
            <a:chExt cx="1805442" cy="297347"/>
          </a:xfrm>
        </p:grpSpPr>
        <p:sp>
          <p:nvSpPr>
            <p:cNvPr id="24" name="Freeform 24"/>
            <p:cNvSpPr/>
            <p:nvPr/>
          </p:nvSpPr>
          <p:spPr>
            <a:xfrm>
              <a:off x="0" y="0"/>
              <a:ext cx="1805442" cy="297347"/>
            </a:xfrm>
            <a:custGeom>
              <a:avLst/>
              <a:gdLst/>
              <a:ahLst/>
              <a:cxnLst/>
              <a:rect l="l" t="t" r="r" b="b"/>
              <a:pathLst>
                <a:path w="1805442" h="297347">
                  <a:moveTo>
                    <a:pt x="0" y="0"/>
                  </a:moveTo>
                  <a:lnTo>
                    <a:pt x="1805442" y="0"/>
                  </a:lnTo>
                  <a:lnTo>
                    <a:pt x="1805442" y="297347"/>
                  </a:lnTo>
                  <a:lnTo>
                    <a:pt x="0" y="297347"/>
                  </a:lnTo>
                  <a:close/>
                </a:path>
              </a:pathLst>
            </a:custGeom>
            <a:solidFill>
              <a:srgbClr val="BDFF00">
                <a:alpha val="22745"/>
              </a:srgbClr>
            </a:solidFill>
          </p:spPr>
        </p:sp>
        <p:sp>
          <p:nvSpPr>
            <p:cNvPr id="25" name="TextBox 25"/>
            <p:cNvSpPr txBox="1"/>
            <p:nvPr/>
          </p:nvSpPr>
          <p:spPr>
            <a:xfrm>
              <a:off x="0" y="-38100"/>
              <a:ext cx="1805442" cy="335447"/>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1430069" y="2311815"/>
            <a:ext cx="7199581" cy="3212081"/>
          </a:xfrm>
          <a:prstGeom prst="rect">
            <a:avLst/>
          </a:prstGeom>
        </p:spPr>
        <p:txBody>
          <a:bodyPr lIns="0" tIns="0" rIns="0" bIns="0" rtlCol="0" anchor="t">
            <a:spAutoFit/>
          </a:bodyPr>
          <a:lstStyle/>
          <a:p>
            <a:pPr marL="0" lvl="0" indent="0" algn="l">
              <a:lnSpc>
                <a:spcPts val="11278"/>
              </a:lnSpc>
            </a:pPr>
            <a:r>
              <a:rPr lang="en-US" sz="15037" b="1">
                <a:solidFill>
                  <a:srgbClr val="F4F4F4"/>
                </a:solidFill>
                <a:latin typeface="Telegraf Bold"/>
                <a:ea typeface="Telegraf Bold"/>
                <a:cs typeface="Telegraf Bold"/>
                <a:sym typeface="Telegraf Bold"/>
              </a:rPr>
              <a:t>THANK</a:t>
            </a:r>
          </a:p>
          <a:p>
            <a:pPr marL="0" lvl="0" indent="0" algn="l">
              <a:lnSpc>
                <a:spcPts val="11278"/>
              </a:lnSpc>
            </a:pPr>
            <a:r>
              <a:rPr lang="en-US" sz="15037" b="1">
                <a:solidFill>
                  <a:srgbClr val="F4F4F4"/>
                </a:solidFill>
                <a:latin typeface="Telegraf Bold"/>
                <a:ea typeface="Telegraf Bold"/>
                <a:cs typeface="Telegraf Bold"/>
                <a:sym typeface="Telegraf Bold"/>
              </a:rPr>
              <a:t>YOU</a:t>
            </a:r>
          </a:p>
        </p:txBody>
      </p:sp>
      <p:grpSp>
        <p:nvGrpSpPr>
          <p:cNvPr id="27" name="Group 27"/>
          <p:cNvGrpSpPr/>
          <p:nvPr/>
        </p:nvGrpSpPr>
        <p:grpSpPr>
          <a:xfrm>
            <a:off x="17259300" y="1028700"/>
            <a:ext cx="1943433" cy="1894109"/>
            <a:chOff x="0" y="0"/>
            <a:chExt cx="511851" cy="498860"/>
          </a:xfrm>
        </p:grpSpPr>
        <p:sp>
          <p:nvSpPr>
            <p:cNvPr id="28" name="Freeform 28"/>
            <p:cNvSpPr/>
            <p:nvPr/>
          </p:nvSpPr>
          <p:spPr>
            <a:xfrm>
              <a:off x="0" y="0"/>
              <a:ext cx="511851" cy="498860"/>
            </a:xfrm>
            <a:custGeom>
              <a:avLst/>
              <a:gdLst/>
              <a:ahLst/>
              <a:cxnLst/>
              <a:rect l="l" t="t" r="r" b="b"/>
              <a:pathLst>
                <a:path w="511851" h="498860">
                  <a:moveTo>
                    <a:pt x="0" y="0"/>
                  </a:moveTo>
                  <a:lnTo>
                    <a:pt x="511851" y="0"/>
                  </a:lnTo>
                  <a:lnTo>
                    <a:pt x="511851" y="498860"/>
                  </a:lnTo>
                  <a:lnTo>
                    <a:pt x="0" y="498860"/>
                  </a:lnTo>
                  <a:close/>
                </a:path>
              </a:pathLst>
            </a:custGeom>
            <a:solidFill>
              <a:srgbClr val="BDFF00"/>
            </a:solidFill>
          </p:spPr>
        </p:sp>
        <p:sp>
          <p:nvSpPr>
            <p:cNvPr id="29" name="TextBox 29"/>
            <p:cNvSpPr txBox="1"/>
            <p:nvPr/>
          </p:nvSpPr>
          <p:spPr>
            <a:xfrm>
              <a:off x="0" y="-38100"/>
              <a:ext cx="511851" cy="536960"/>
            </a:xfrm>
            <a:prstGeom prst="rect">
              <a:avLst/>
            </a:prstGeom>
          </p:spPr>
          <p:txBody>
            <a:bodyPr lIns="50800" tIns="50800" rIns="50800" bIns="50800" rtlCol="0" anchor="ctr"/>
            <a:lstStyle/>
            <a:p>
              <a:pPr marL="0" lvl="0" indent="0" algn="ctr">
                <a:lnSpc>
                  <a:spcPts val="2659"/>
                </a:lnSpc>
              </a:pPr>
              <a:endParaRPr/>
            </a:p>
          </p:txBody>
        </p:sp>
      </p:grpSp>
      <p:grpSp>
        <p:nvGrpSpPr>
          <p:cNvPr id="30" name="Group 30"/>
          <p:cNvGrpSpPr/>
          <p:nvPr/>
        </p:nvGrpSpPr>
        <p:grpSpPr>
          <a:xfrm>
            <a:off x="-914733" y="7393791"/>
            <a:ext cx="1943433" cy="1864509"/>
            <a:chOff x="0" y="0"/>
            <a:chExt cx="511851" cy="491064"/>
          </a:xfrm>
        </p:grpSpPr>
        <p:sp>
          <p:nvSpPr>
            <p:cNvPr id="31" name="Freeform 31"/>
            <p:cNvSpPr/>
            <p:nvPr/>
          </p:nvSpPr>
          <p:spPr>
            <a:xfrm>
              <a:off x="0" y="0"/>
              <a:ext cx="511851" cy="491064"/>
            </a:xfrm>
            <a:custGeom>
              <a:avLst/>
              <a:gdLst/>
              <a:ahLst/>
              <a:cxnLst/>
              <a:rect l="l" t="t" r="r" b="b"/>
              <a:pathLst>
                <a:path w="511851" h="491064">
                  <a:moveTo>
                    <a:pt x="0" y="0"/>
                  </a:moveTo>
                  <a:lnTo>
                    <a:pt x="511851" y="0"/>
                  </a:lnTo>
                  <a:lnTo>
                    <a:pt x="511851" y="491064"/>
                  </a:lnTo>
                  <a:lnTo>
                    <a:pt x="0" y="491064"/>
                  </a:lnTo>
                  <a:close/>
                </a:path>
              </a:pathLst>
            </a:custGeom>
            <a:solidFill>
              <a:srgbClr val="BDFF00"/>
            </a:solidFill>
          </p:spPr>
        </p:sp>
        <p:sp>
          <p:nvSpPr>
            <p:cNvPr id="32" name="TextBox 32"/>
            <p:cNvSpPr txBox="1"/>
            <p:nvPr/>
          </p:nvSpPr>
          <p:spPr>
            <a:xfrm>
              <a:off x="0" y="-38100"/>
              <a:ext cx="511851" cy="529164"/>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p:cNvGrpSpPr/>
          <p:nvPr/>
        </p:nvGrpSpPr>
        <p:grpSpPr>
          <a:xfrm>
            <a:off x="11160160" y="2080457"/>
            <a:ext cx="4587889" cy="339768"/>
            <a:chOff x="0" y="0"/>
            <a:chExt cx="6117185" cy="453024"/>
          </a:xfrm>
        </p:grpSpPr>
        <p:sp>
          <p:nvSpPr>
            <p:cNvPr id="34" name="AutoShape 34"/>
            <p:cNvSpPr/>
            <p:nvPr/>
          </p:nvSpPr>
          <p:spPr>
            <a:xfrm>
              <a:off x="452044" y="446674"/>
              <a:ext cx="5665141" cy="0"/>
            </a:xfrm>
            <a:prstGeom prst="line">
              <a:avLst/>
            </a:prstGeom>
            <a:ln w="12700" cap="rnd">
              <a:solidFill>
                <a:srgbClr val="FFFFFF"/>
              </a:solidFill>
              <a:prstDash val="solid"/>
              <a:headEnd type="none" w="sm" len="sm"/>
              <a:tailEnd type="none" w="sm" len="sm"/>
            </a:ln>
          </p:spPr>
        </p:sp>
        <p:grpSp>
          <p:nvGrpSpPr>
            <p:cNvPr id="35" name="Group 35"/>
            <p:cNvGrpSpPr/>
            <p:nvPr/>
          </p:nvGrpSpPr>
          <p:grpSpPr>
            <a:xfrm>
              <a:off x="0" y="49894"/>
              <a:ext cx="271057" cy="258351"/>
              <a:chOff x="0" y="0"/>
              <a:chExt cx="812800" cy="774700"/>
            </a:xfrm>
          </p:grpSpPr>
          <p:sp>
            <p:nvSpPr>
              <p:cNvPr id="36" name="Freeform 3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37" name="TextBox 37"/>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38" name="TextBox 38"/>
            <p:cNvSpPr txBox="1"/>
            <p:nvPr/>
          </p:nvSpPr>
          <p:spPr>
            <a:xfrm>
              <a:off x="452044" y="-38100"/>
              <a:ext cx="5665141" cy="386136"/>
            </a:xfrm>
            <a:prstGeom prst="rect">
              <a:avLst/>
            </a:prstGeom>
          </p:spPr>
          <p:txBody>
            <a:bodyPr lIns="0" tIns="0" rIns="0" bIns="0" rtlCol="0" anchor="t">
              <a:spAutoFit/>
            </a:bodyPr>
            <a:lstStyle/>
            <a:p>
              <a:pPr marL="0" lvl="0" indent="0" algn="l">
                <a:lnSpc>
                  <a:spcPts val="2412"/>
                </a:lnSpc>
                <a:spcBef>
                  <a:spcPct val="0"/>
                </a:spcBef>
              </a:pPr>
              <a:r>
                <a:rPr lang="en-US" sz="1723">
                  <a:solidFill>
                    <a:srgbClr val="F4F4F4"/>
                  </a:solidFill>
                  <a:latin typeface="Inter Light"/>
                  <a:ea typeface="Inter Light"/>
                  <a:cs typeface="Inter Light"/>
                  <a:sym typeface="Inter Light"/>
                </a:rPr>
                <a:t>We welcome your feedback and questions</a:t>
              </a:r>
            </a:p>
          </p:txBody>
        </p:sp>
      </p:grpSp>
      <p:grpSp>
        <p:nvGrpSpPr>
          <p:cNvPr id="39" name="Group 39"/>
          <p:cNvGrpSpPr/>
          <p:nvPr/>
        </p:nvGrpSpPr>
        <p:grpSpPr>
          <a:xfrm>
            <a:off x="11160160" y="1531284"/>
            <a:ext cx="4566957" cy="310244"/>
            <a:chOff x="0" y="0"/>
            <a:chExt cx="6089276" cy="413659"/>
          </a:xfrm>
        </p:grpSpPr>
        <p:sp>
          <p:nvSpPr>
            <p:cNvPr id="40" name="AutoShape 40"/>
            <p:cNvSpPr/>
            <p:nvPr/>
          </p:nvSpPr>
          <p:spPr>
            <a:xfrm>
              <a:off x="452044" y="407309"/>
              <a:ext cx="5637232" cy="0"/>
            </a:xfrm>
            <a:prstGeom prst="line">
              <a:avLst/>
            </a:prstGeom>
            <a:ln w="12700" cap="rnd">
              <a:solidFill>
                <a:srgbClr val="FFFFFF"/>
              </a:solidFill>
              <a:prstDash val="solid"/>
              <a:headEnd type="none" w="sm" len="sm"/>
              <a:tailEnd type="none" w="sm" len="sm"/>
            </a:ln>
          </p:spPr>
        </p:sp>
        <p:grpSp>
          <p:nvGrpSpPr>
            <p:cNvPr id="41" name="Group 41"/>
            <p:cNvGrpSpPr/>
            <p:nvPr/>
          </p:nvGrpSpPr>
          <p:grpSpPr>
            <a:xfrm>
              <a:off x="0" y="49894"/>
              <a:ext cx="271057" cy="258351"/>
              <a:chOff x="0" y="0"/>
              <a:chExt cx="812800" cy="774700"/>
            </a:xfrm>
          </p:grpSpPr>
          <p:sp>
            <p:nvSpPr>
              <p:cNvPr id="42" name="Freeform 42"/>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DFF00"/>
              </a:solidFill>
            </p:spPr>
          </p:sp>
          <p:sp>
            <p:nvSpPr>
              <p:cNvPr id="43" name="TextBox 43"/>
              <p:cNvSpPr txBox="1"/>
              <p:nvPr/>
            </p:nvSpPr>
            <p:spPr>
              <a:xfrm>
                <a:off x="228600" y="228600"/>
                <a:ext cx="355600" cy="381000"/>
              </a:xfrm>
              <a:prstGeom prst="rect">
                <a:avLst/>
              </a:prstGeom>
            </p:spPr>
            <p:txBody>
              <a:bodyPr lIns="50800" tIns="50800" rIns="50800" bIns="50800" rtlCol="0" anchor="ctr"/>
              <a:lstStyle/>
              <a:p>
                <a:pPr marL="0" lvl="0" indent="0" algn="ctr">
                  <a:lnSpc>
                    <a:spcPts val="2659"/>
                  </a:lnSpc>
                </a:pPr>
                <a:endParaRPr/>
              </a:p>
            </p:txBody>
          </p:sp>
        </p:grpSp>
        <p:sp>
          <p:nvSpPr>
            <p:cNvPr id="44" name="TextBox 44"/>
            <p:cNvSpPr txBox="1"/>
            <p:nvPr/>
          </p:nvSpPr>
          <p:spPr>
            <a:xfrm>
              <a:off x="452044" y="-38100"/>
              <a:ext cx="5637232" cy="386136"/>
            </a:xfrm>
            <a:prstGeom prst="rect">
              <a:avLst/>
            </a:prstGeom>
          </p:spPr>
          <p:txBody>
            <a:bodyPr lIns="0" tIns="0" rIns="0" bIns="0" rtlCol="0" anchor="t">
              <a:spAutoFit/>
            </a:bodyPr>
            <a:lstStyle/>
            <a:p>
              <a:pPr marL="0" lvl="0" indent="0" algn="l">
                <a:lnSpc>
                  <a:spcPts val="2412"/>
                </a:lnSpc>
                <a:spcBef>
                  <a:spcPct val="0"/>
                </a:spcBef>
              </a:pPr>
              <a:r>
                <a:rPr lang="en-US" sz="1723">
                  <a:solidFill>
                    <a:srgbClr val="F4F4F4"/>
                  </a:solidFill>
                  <a:latin typeface="Inter Light"/>
                  <a:ea typeface="Inter Light"/>
                  <a:cs typeface="Inter Light"/>
                  <a:sym typeface="Inter Light"/>
                </a:rPr>
                <a:t>Thank you for your attention</a:t>
              </a:r>
            </a:p>
          </p:txBody>
        </p:sp>
      </p:grpSp>
      <p:grpSp>
        <p:nvGrpSpPr>
          <p:cNvPr id="45" name="Group 45"/>
          <p:cNvGrpSpPr/>
          <p:nvPr/>
        </p:nvGrpSpPr>
        <p:grpSpPr>
          <a:xfrm>
            <a:off x="9629858" y="2922809"/>
            <a:ext cx="7629442" cy="6335491"/>
            <a:chOff x="0" y="0"/>
            <a:chExt cx="720609" cy="598394"/>
          </a:xfrm>
        </p:grpSpPr>
        <p:sp>
          <p:nvSpPr>
            <p:cNvPr id="46" name="Freeform 46"/>
            <p:cNvSpPr/>
            <p:nvPr/>
          </p:nvSpPr>
          <p:spPr>
            <a:xfrm>
              <a:off x="0" y="0"/>
              <a:ext cx="720609" cy="598394"/>
            </a:xfrm>
            <a:custGeom>
              <a:avLst/>
              <a:gdLst/>
              <a:ahLst/>
              <a:cxnLst/>
              <a:rect l="l" t="t" r="r" b="b"/>
              <a:pathLst>
                <a:path w="720609" h="598394">
                  <a:moveTo>
                    <a:pt x="0" y="0"/>
                  </a:moveTo>
                  <a:lnTo>
                    <a:pt x="720609" y="0"/>
                  </a:lnTo>
                  <a:lnTo>
                    <a:pt x="720609" y="598394"/>
                  </a:lnTo>
                  <a:lnTo>
                    <a:pt x="0" y="598394"/>
                  </a:lnTo>
                  <a:close/>
                </a:path>
              </a:pathLst>
            </a:custGeom>
            <a:blipFill>
              <a:blip r:embed="rId2"/>
              <a:stretch>
                <a:fillRect l="-1338" r="-1338"/>
              </a:stretch>
            </a:blipFill>
            <a:ln w="19050" cap="sq">
              <a:solidFill>
                <a:srgbClr val="BDFF00"/>
              </a:solidFill>
              <a:prstDash val="solid"/>
              <a:miter/>
            </a:ln>
          </p:spPr>
        </p:sp>
      </p:grpSp>
      <p:sp>
        <p:nvSpPr>
          <p:cNvPr id="47" name="AutoShape 47"/>
          <p:cNvSpPr/>
          <p:nvPr/>
        </p:nvSpPr>
        <p:spPr>
          <a:xfrm>
            <a:off x="9639383" y="1042078"/>
            <a:ext cx="0" cy="1880732"/>
          </a:xfrm>
          <a:prstGeom prst="line">
            <a:avLst/>
          </a:prstGeom>
          <a:ln w="19050" cap="flat">
            <a:solidFill>
              <a:srgbClr val="BDFF00"/>
            </a:solidFill>
            <a:prstDash val="solid"/>
            <a:headEnd type="none" w="sm" len="sm"/>
            <a:tailEnd type="none" w="sm" len="sm"/>
          </a:ln>
        </p:spPr>
      </p:sp>
      <p:sp>
        <p:nvSpPr>
          <p:cNvPr id="48" name="AutoShape 48"/>
          <p:cNvSpPr/>
          <p:nvPr/>
        </p:nvSpPr>
        <p:spPr>
          <a:xfrm flipH="1">
            <a:off x="1028700" y="5895617"/>
            <a:ext cx="8601158" cy="0"/>
          </a:xfrm>
          <a:prstGeom prst="line">
            <a:avLst/>
          </a:prstGeom>
          <a:ln w="19050" cap="flat">
            <a:solidFill>
              <a:srgbClr val="BDFF00"/>
            </a:solidFill>
            <a:prstDash val="solid"/>
            <a:headEnd type="none" w="sm" len="sm"/>
            <a:tailEnd type="none" w="sm" len="sm"/>
          </a:ln>
        </p:spPr>
      </p:sp>
      <p:sp>
        <p:nvSpPr>
          <p:cNvPr id="49" name="AutoShape 49"/>
          <p:cNvSpPr/>
          <p:nvPr/>
        </p:nvSpPr>
        <p:spPr>
          <a:xfrm>
            <a:off x="4636695" y="7042924"/>
            <a:ext cx="1118058" cy="0"/>
          </a:xfrm>
          <a:prstGeom prst="line">
            <a:avLst/>
          </a:prstGeom>
          <a:ln w="19050" cap="flat">
            <a:solidFill>
              <a:srgbClr val="BDFF00"/>
            </a:solidFill>
            <a:prstDash val="solid"/>
            <a:headEnd type="none" w="sm" len="sm"/>
            <a:tailEnd type="none" w="sm" len="sm"/>
          </a:ln>
        </p:spPr>
      </p:sp>
      <p:sp>
        <p:nvSpPr>
          <p:cNvPr id="50" name="AutoShape 50"/>
          <p:cNvSpPr/>
          <p:nvPr/>
        </p:nvSpPr>
        <p:spPr>
          <a:xfrm>
            <a:off x="4068513" y="8017296"/>
            <a:ext cx="1373120" cy="0"/>
          </a:xfrm>
          <a:prstGeom prst="line">
            <a:avLst/>
          </a:prstGeom>
          <a:ln w="19050" cap="flat">
            <a:solidFill>
              <a:srgbClr val="BDFF00"/>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548</Words>
  <Application>Microsoft Office PowerPoint</Application>
  <PresentationFormat>Custom</PresentationFormat>
  <Paragraphs>51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Inter</vt:lpstr>
      <vt:lpstr>Inter Semi-Bold</vt:lpstr>
      <vt:lpstr>Inter Light</vt:lpstr>
      <vt:lpstr>Telegraf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Analysis Project</dc:title>
  <cp:lastModifiedBy>kishore kumar</cp:lastModifiedBy>
  <cp:revision>2</cp:revision>
  <dcterms:created xsi:type="dcterms:W3CDTF">2006-08-16T00:00:00Z</dcterms:created>
  <dcterms:modified xsi:type="dcterms:W3CDTF">2026-04-28T03:04:27Z</dcterms:modified>
  <dc:identifier>DAHIGv2tUUQ</dc:identifier>
</cp:coreProperties>
</file>